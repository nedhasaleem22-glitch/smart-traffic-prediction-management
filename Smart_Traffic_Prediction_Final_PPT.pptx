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84" r:id="rId8"/>
    <p:sldId id="262" r:id="rId9"/>
    <p:sldId id="287" r:id="rId10"/>
    <p:sldId id="263" r:id="rId11"/>
    <p:sldId id="264" r:id="rId12"/>
    <p:sldId id="265" r:id="rId13"/>
    <p:sldId id="285" r:id="rId14"/>
    <p:sldId id="286" r:id="rId15"/>
    <p:sldId id="266" r:id="rId16"/>
    <p:sldId id="267" r:id="rId17"/>
    <p:sldId id="268" r:id="rId18"/>
    <p:sldId id="269" r:id="rId19"/>
    <p:sldId id="270" r:id="rId20"/>
    <p:sldId id="271" r:id="rId21"/>
    <p:sldId id="272" r:id="rId22"/>
    <p:sldId id="273" r:id="rId23"/>
    <p:sldId id="274" r:id="rId24"/>
    <p:sldId id="275" r:id="rId25"/>
    <p:sldId id="277" r:id="rId26"/>
    <p:sldId id="279" r:id="rId27"/>
    <p:sldId id="280" r:id="rId28"/>
    <p:sldId id="281" r:id="rId29"/>
    <p:sldId id="282" r:id="rId30"/>
    <p:sldId id="28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3012370"/>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371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5BCAD085-E8A6-8845-BD4E-CB4CCA059FC4}" type="datetimeFigureOut">
              <a:rPr lang="en-US" smtClean="0"/>
              <a:t>9/18/2026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638485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5BCAD085-E8A6-8845-BD4E-CB4CCA059FC4}" type="datetimeFigureOut">
              <a:rPr lang="en-US" smtClean="0"/>
              <a:t>9/18/2026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1216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438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5881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5BCAD085-E8A6-8845-BD4E-CB4CCA059FC4}" type="datetimeFigureOut">
              <a:rPr lang="en-US" smtClean="0"/>
              <a:t>9/18/2026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81300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1231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38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5BCAD085-E8A6-8845-BD4E-CB4CCA059FC4}" type="datetimeFigureOut">
              <a:rPr lang="en-US" smtClean="0"/>
              <a:t>9/18/2026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12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5BCAD085-E8A6-8845-BD4E-CB4CCA059FC4}" type="datetimeFigureOut">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6396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5BCAD085-E8A6-8845-BD4E-CB4CCA059FC4}" type="datetimeFigureOut">
              <a:rPr lang="en-US" smtClean="0"/>
              <a:t>9/18/2026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266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2151258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5BCAD085-E8A6-8845-BD4E-CB4CCA059FC4}" type="datetimeFigureOut">
              <a:rPr lang="en-US" smtClean="0"/>
              <a:t>9/18/2026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5473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5BCAD085-E8A6-8845-BD4E-CB4CCA059FC4}" type="datetimeFigureOut">
              <a:rPr lang="en-US" smtClean="0"/>
              <a:t>9/18/2026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4678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5BCAD085-E8A6-8845-BD4E-CB4CCA059FC4}" type="datetimeFigureOut">
              <a:rPr lang="en-US" smtClean="0"/>
              <a:t>9/18/2026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3840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7358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56751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17318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94217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9/18/2026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40368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5BCAD085-E8A6-8845-BD4E-CB4CCA059FC4}" type="datetimeFigureOut">
              <a:rPr lang="en-US" smtClean="0"/>
              <a:t>9/18/2026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68959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5BCAD085-E8A6-8845-BD4E-CB4CCA059FC4}" type="datetimeFigureOut">
              <a:rPr lang="en-US" smtClean="0"/>
              <a:t>9/18/2026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28023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5BCAD085-E8A6-8845-BD4E-CB4CCA059FC4}" type="datetimeFigureOut">
              <a:rPr lang="en-US" smtClean="0"/>
              <a:t>9/18/2026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66921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5BCAD085-E8A6-8845-BD4E-CB4CCA059FC4}" type="datetimeFigureOut">
              <a:rPr lang="en-US" smtClean="0"/>
              <a:t>9/18/2026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55190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36556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8628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5BCAD085-E8A6-8845-BD4E-CB4CCA059FC4}" type="datetimeFigureOut">
              <a:rPr lang="en-US" smtClean="0"/>
              <a:t>9/18/2026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88538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7.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7.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7.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412480" y="914400"/>
            <a:ext cx="201168" cy="201168"/>
          </a:xfrm>
          <a:prstGeom prst="ellipse">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5303520"/>
            <a:ext cx="164592" cy="164592"/>
          </a:xfrm>
          <a:prstGeom prst="ellipse">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23959" y="1234440"/>
            <a:ext cx="201168" cy="201168"/>
          </a:xfrm>
          <a:prstGeom prst="ellipse">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641080" y="5074920"/>
            <a:ext cx="164592" cy="164592"/>
          </a:xfrm>
          <a:prstGeom prst="ellipse">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235440" y="914400"/>
            <a:ext cx="201168" cy="201168"/>
          </a:xfrm>
          <a:prstGeom prst="ellipse">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052560" y="5303520"/>
            <a:ext cx="164592" cy="164592"/>
          </a:xfrm>
          <a:prstGeom prst="ellipse">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646919" y="1234440"/>
            <a:ext cx="201168" cy="201168"/>
          </a:xfrm>
          <a:prstGeom prst="ellipse">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464040" y="5074920"/>
            <a:ext cx="164592" cy="164592"/>
          </a:xfrm>
          <a:prstGeom prst="ellipse">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058400" y="914400"/>
            <a:ext cx="201168" cy="201168"/>
          </a:xfrm>
          <a:prstGeom prst="ellipse">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875520" y="5303520"/>
            <a:ext cx="164592" cy="164592"/>
          </a:xfrm>
          <a:prstGeom prst="ellipse">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469880" y="1234440"/>
            <a:ext cx="201168" cy="201168"/>
          </a:xfrm>
          <a:prstGeom prst="ellipse">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287000" y="5074920"/>
            <a:ext cx="164592" cy="164592"/>
          </a:xfrm>
          <a:prstGeom prst="ellipse">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881359" y="914400"/>
            <a:ext cx="201168" cy="201168"/>
          </a:xfrm>
          <a:prstGeom prst="ellipse">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8480" y="5303520"/>
            <a:ext cx="164592" cy="164592"/>
          </a:xfrm>
          <a:prstGeom prst="ellipse">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1325880"/>
            <a:ext cx="7498079" cy="502920"/>
          </a:xfrm>
          <a:prstGeom prst="rect">
            <a:avLst/>
          </a:prstGeom>
          <a:noFill/>
        </p:spPr>
        <p:txBody>
          <a:bodyPr wrap="none">
            <a:spAutoFit/>
          </a:bodyPr>
          <a:lstStyle/>
          <a:p>
            <a:pPr>
              <a:defRPr sz="3100" b="1">
                <a:solidFill>
                  <a:srgbClr val="FFFFFF"/>
                </a:solidFill>
                <a:latin typeface="Aptos Display"/>
              </a:defRPr>
            </a:pPr>
            <a:r>
              <a:t>SMART TRAFFIC PREDICTION</a:t>
            </a:r>
          </a:p>
        </p:txBody>
      </p:sp>
      <p:sp>
        <p:nvSpPr>
          <p:cNvPr id="18" name="TextBox 17"/>
          <p:cNvSpPr txBox="1"/>
          <p:nvPr/>
        </p:nvSpPr>
        <p:spPr>
          <a:xfrm>
            <a:off x="685800" y="1901952"/>
            <a:ext cx="7498079" cy="502920"/>
          </a:xfrm>
          <a:prstGeom prst="rect">
            <a:avLst/>
          </a:prstGeom>
          <a:noFill/>
        </p:spPr>
        <p:txBody>
          <a:bodyPr wrap="none">
            <a:spAutoFit/>
          </a:bodyPr>
          <a:lstStyle/>
          <a:p>
            <a:pPr>
              <a:defRPr sz="2600" b="1">
                <a:solidFill>
                  <a:srgbClr val="BEDCFF"/>
                </a:solidFill>
                <a:latin typeface="Aptos Display"/>
              </a:defRPr>
            </a:pPr>
            <a:r>
              <a:t>AND INTELLIGENT TRAFFIC MANAGEMENT SYSTEM</a:t>
            </a:r>
          </a:p>
        </p:txBody>
      </p:sp>
      <p:sp>
        <p:nvSpPr>
          <p:cNvPr id="19" name="TextBox 18"/>
          <p:cNvSpPr txBox="1"/>
          <p:nvPr/>
        </p:nvSpPr>
        <p:spPr>
          <a:xfrm>
            <a:off x="685800" y="2606040"/>
            <a:ext cx="7498079" cy="502920"/>
          </a:xfrm>
          <a:prstGeom prst="rect">
            <a:avLst/>
          </a:prstGeom>
          <a:noFill/>
        </p:spPr>
        <p:txBody>
          <a:bodyPr wrap="none">
            <a:spAutoFit/>
          </a:bodyPr>
          <a:lstStyle/>
          <a:p>
            <a:pPr>
              <a:defRPr sz="1700" b="0">
                <a:solidFill>
                  <a:srgbClr val="FFFFFF"/>
                </a:solidFill>
                <a:latin typeface="Aptos Display"/>
              </a:defRPr>
            </a:pPr>
            <a:r>
              <a:t>Integrated Machine Learning, Deep Learning &amp; Generative AI</a:t>
            </a:r>
          </a:p>
        </p:txBody>
      </p:sp>
      <p:sp>
        <p:nvSpPr>
          <p:cNvPr id="20" name="Rounded Rectangle 19"/>
          <p:cNvSpPr/>
          <p:nvPr/>
        </p:nvSpPr>
        <p:spPr>
          <a:xfrm>
            <a:off x="713232" y="3703320"/>
            <a:ext cx="3657600" cy="11887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13232" y="3703320"/>
            <a:ext cx="64008" cy="1188720"/>
          </a:xfrm>
          <a:prstGeom prst="rect">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3840480"/>
            <a:ext cx="3291840" cy="320040"/>
          </a:xfrm>
          <a:prstGeom prst="rect">
            <a:avLst/>
          </a:prstGeom>
          <a:noFill/>
        </p:spPr>
        <p:txBody>
          <a:bodyPr wrap="none">
            <a:spAutoFit/>
          </a:bodyPr>
          <a:lstStyle/>
          <a:p>
            <a:pPr>
              <a:defRPr sz="1500" b="1">
                <a:solidFill>
                  <a:srgbClr val="349AB4"/>
                </a:solidFill>
              </a:defRPr>
            </a:pPr>
            <a:r>
              <a:t>Project</a:t>
            </a:r>
          </a:p>
        </p:txBody>
      </p:sp>
      <p:sp>
        <p:nvSpPr>
          <p:cNvPr id="23" name="TextBox 22"/>
          <p:cNvSpPr txBox="1"/>
          <p:nvPr/>
        </p:nvSpPr>
        <p:spPr>
          <a:xfrm>
            <a:off x="914400" y="4233672"/>
            <a:ext cx="3291840" cy="530352"/>
          </a:xfrm>
          <a:prstGeom prst="rect">
            <a:avLst/>
          </a:prstGeom>
          <a:noFill/>
        </p:spPr>
        <p:txBody>
          <a:bodyPr wrap="square">
            <a:spAutoFit/>
          </a:bodyPr>
          <a:lstStyle/>
          <a:p>
            <a:pPr>
              <a:defRPr sz="1150">
                <a:solidFill>
                  <a:srgbClr val="232A34"/>
                </a:solidFill>
              </a:defRPr>
            </a:pPr>
            <a:r>
              <a:t>Data Science with Python</a:t>
            </a:r>
            <a:br/>
            <a:r>
              <a:t>March 2026 – August 2026</a:t>
            </a:r>
          </a:p>
        </p:txBody>
      </p:sp>
      <p:sp>
        <p:nvSpPr>
          <p:cNvPr id="24" name="Rounded Rectangle 23"/>
          <p:cNvSpPr/>
          <p:nvPr/>
        </p:nvSpPr>
        <p:spPr>
          <a:xfrm>
            <a:off x="4617720" y="3703320"/>
            <a:ext cx="3108960" cy="11887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617720" y="3703320"/>
            <a:ext cx="64008" cy="118872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18888" y="3840480"/>
            <a:ext cx="2743200" cy="320040"/>
          </a:xfrm>
          <a:prstGeom prst="rect">
            <a:avLst/>
          </a:prstGeom>
          <a:noFill/>
        </p:spPr>
        <p:txBody>
          <a:bodyPr wrap="none">
            <a:spAutoFit/>
          </a:bodyPr>
          <a:lstStyle/>
          <a:p>
            <a:pPr>
              <a:defRPr sz="1500" b="1">
                <a:solidFill>
                  <a:srgbClr val="DC782D"/>
                </a:solidFill>
              </a:defRPr>
            </a:pPr>
            <a:r>
              <a:t>Core modules</a:t>
            </a:r>
          </a:p>
        </p:txBody>
      </p:sp>
      <p:sp>
        <p:nvSpPr>
          <p:cNvPr id="27" name="TextBox 26"/>
          <p:cNvSpPr txBox="1"/>
          <p:nvPr/>
        </p:nvSpPr>
        <p:spPr>
          <a:xfrm>
            <a:off x="4818888" y="4233672"/>
            <a:ext cx="2743200" cy="530352"/>
          </a:xfrm>
          <a:prstGeom prst="rect">
            <a:avLst/>
          </a:prstGeom>
          <a:noFill/>
        </p:spPr>
        <p:txBody>
          <a:bodyPr wrap="square">
            <a:spAutoFit/>
          </a:bodyPr>
          <a:lstStyle/>
          <a:p>
            <a:pPr>
              <a:defRPr sz="1150">
                <a:solidFill>
                  <a:srgbClr val="232A34"/>
                </a:solidFill>
              </a:defRPr>
            </a:pPr>
            <a:r>
              <a:t>ML prediction • LSTM forecasting • RAG assistant</a:t>
            </a:r>
          </a:p>
        </p:txBody>
      </p:sp>
      <p:sp>
        <p:nvSpPr>
          <p:cNvPr id="28" name="TextBox 27"/>
          <p:cNvSpPr txBox="1"/>
          <p:nvPr/>
        </p:nvSpPr>
        <p:spPr>
          <a:xfrm>
            <a:off x="713232" y="5715000"/>
            <a:ext cx="11277108" cy="323165"/>
          </a:xfrm>
          <a:prstGeom prst="rect">
            <a:avLst/>
          </a:prstGeom>
          <a:noFill/>
        </p:spPr>
        <p:txBody>
          <a:bodyPr wrap="square">
            <a:spAutoFit/>
          </a:bodyPr>
          <a:lstStyle/>
          <a:p>
            <a:pPr>
              <a:defRPr sz="1500">
                <a:solidFill>
                  <a:srgbClr val="FFFFFF"/>
                </a:solidFill>
              </a:defRPr>
            </a:pPr>
            <a:r>
              <a:rPr dirty="0"/>
              <a:t>Final Project Presentation</a:t>
            </a:r>
            <a:r>
              <a:rPr lang="en-US" dirty="0"/>
              <a:t>                                                                                                                                                       Nedha Saleem</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1. Project Overview</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From historical traffic data to prediction, forecasting and natural-language assistance</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2</a:t>
            </a:r>
          </a:p>
        </p:txBody>
      </p:sp>
      <p:sp>
        <p:nvSpPr>
          <p:cNvPr id="9" name="Rounded Rectangle 8"/>
          <p:cNvSpPr/>
          <p:nvPr/>
        </p:nvSpPr>
        <p:spPr>
          <a:xfrm>
            <a:off x="594360" y="1234440"/>
            <a:ext cx="3474720" cy="196596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34440"/>
            <a:ext cx="64008" cy="196596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1371600"/>
            <a:ext cx="3108960" cy="320040"/>
          </a:xfrm>
          <a:prstGeom prst="rect">
            <a:avLst/>
          </a:prstGeom>
          <a:noFill/>
        </p:spPr>
        <p:txBody>
          <a:bodyPr wrap="none">
            <a:spAutoFit/>
          </a:bodyPr>
          <a:lstStyle/>
          <a:p>
            <a:pPr>
              <a:defRPr sz="1500" b="1">
                <a:solidFill>
                  <a:srgbClr val="2D63BE"/>
                </a:solidFill>
              </a:defRPr>
            </a:pPr>
            <a:r>
              <a:t>Why this problem matters</a:t>
            </a:r>
          </a:p>
        </p:txBody>
      </p:sp>
      <p:sp>
        <p:nvSpPr>
          <p:cNvPr id="12" name="TextBox 11"/>
          <p:cNvSpPr txBox="1"/>
          <p:nvPr/>
        </p:nvSpPr>
        <p:spPr>
          <a:xfrm>
            <a:off x="795528" y="1764792"/>
            <a:ext cx="3108960" cy="1307592"/>
          </a:xfrm>
          <a:prstGeom prst="rect">
            <a:avLst/>
          </a:prstGeom>
          <a:noFill/>
        </p:spPr>
        <p:txBody>
          <a:bodyPr wrap="square">
            <a:spAutoFit/>
          </a:bodyPr>
          <a:lstStyle/>
          <a:p>
            <a:pPr>
              <a:defRPr sz="1150">
                <a:solidFill>
                  <a:srgbClr val="232A34"/>
                </a:solidFill>
              </a:defRPr>
            </a:pPr>
            <a:r>
              <a:t>Urban traffic is affected by time, weather, holidays, road capacity and changing travel patterns. A useful system should predict traffic and also make the results understandable.</a:t>
            </a:r>
          </a:p>
        </p:txBody>
      </p:sp>
      <p:sp>
        <p:nvSpPr>
          <p:cNvPr id="13" name="Rounded Rectangle 12"/>
          <p:cNvSpPr/>
          <p:nvPr/>
        </p:nvSpPr>
        <p:spPr>
          <a:xfrm>
            <a:off x="4343400" y="1234440"/>
            <a:ext cx="3474720" cy="196596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43400" y="1234440"/>
            <a:ext cx="64008" cy="196596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44568" y="1371600"/>
            <a:ext cx="3108960" cy="320040"/>
          </a:xfrm>
          <a:prstGeom prst="rect">
            <a:avLst/>
          </a:prstGeom>
          <a:noFill/>
        </p:spPr>
        <p:txBody>
          <a:bodyPr wrap="none">
            <a:spAutoFit/>
          </a:bodyPr>
          <a:lstStyle/>
          <a:p>
            <a:pPr>
              <a:defRPr sz="1500" b="1">
                <a:solidFill>
                  <a:srgbClr val="34824B"/>
                </a:solidFill>
              </a:defRPr>
            </a:pPr>
            <a:r>
              <a:t>What the project combines</a:t>
            </a:r>
          </a:p>
        </p:txBody>
      </p:sp>
      <p:sp>
        <p:nvSpPr>
          <p:cNvPr id="16" name="TextBox 15"/>
          <p:cNvSpPr txBox="1"/>
          <p:nvPr/>
        </p:nvSpPr>
        <p:spPr>
          <a:xfrm>
            <a:off x="4544568" y="1764792"/>
            <a:ext cx="3108960" cy="1307592"/>
          </a:xfrm>
          <a:prstGeom prst="rect">
            <a:avLst/>
          </a:prstGeom>
          <a:noFill/>
        </p:spPr>
        <p:txBody>
          <a:bodyPr wrap="square">
            <a:spAutoFit/>
          </a:bodyPr>
          <a:lstStyle/>
          <a:p>
            <a:pPr>
              <a:defRPr sz="1150">
                <a:solidFill>
                  <a:srgbClr val="232A34"/>
                </a:solidFill>
              </a:defRPr>
            </a:pPr>
            <a:r>
              <a:t>• Supervised ML for traffic-volume prediction</a:t>
            </a:r>
            <a:br/>
            <a:r>
              <a:t>• LSTM for sequential forecasting</a:t>
            </a:r>
            <a:br/>
            <a:r>
              <a:t>• RAG + Llama 3.2 for traffic information and assistance</a:t>
            </a:r>
          </a:p>
        </p:txBody>
      </p:sp>
      <p:sp>
        <p:nvSpPr>
          <p:cNvPr id="17" name="Rounded Rectangle 16"/>
          <p:cNvSpPr/>
          <p:nvPr/>
        </p:nvSpPr>
        <p:spPr>
          <a:xfrm>
            <a:off x="8092440" y="1234440"/>
            <a:ext cx="3474720" cy="196596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234440"/>
            <a:ext cx="64008" cy="196596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93608" y="1371600"/>
            <a:ext cx="3108960" cy="320040"/>
          </a:xfrm>
          <a:prstGeom prst="rect">
            <a:avLst/>
          </a:prstGeom>
          <a:noFill/>
        </p:spPr>
        <p:txBody>
          <a:bodyPr wrap="none">
            <a:spAutoFit/>
          </a:bodyPr>
          <a:lstStyle/>
          <a:p>
            <a:pPr>
              <a:defRPr sz="1500" b="1">
                <a:solidFill>
                  <a:srgbClr val="734BA5"/>
                </a:solidFill>
              </a:defRPr>
            </a:pPr>
            <a:r>
              <a:t>Final prototype</a:t>
            </a:r>
          </a:p>
        </p:txBody>
      </p:sp>
      <p:sp>
        <p:nvSpPr>
          <p:cNvPr id="20" name="TextBox 19"/>
          <p:cNvSpPr txBox="1"/>
          <p:nvPr/>
        </p:nvSpPr>
        <p:spPr>
          <a:xfrm>
            <a:off x="8293608" y="1764792"/>
            <a:ext cx="3108960" cy="1307592"/>
          </a:xfrm>
          <a:prstGeom prst="rect">
            <a:avLst/>
          </a:prstGeom>
          <a:noFill/>
        </p:spPr>
        <p:txBody>
          <a:bodyPr wrap="square">
            <a:spAutoFit/>
          </a:bodyPr>
          <a:lstStyle/>
          <a:p>
            <a:pPr>
              <a:defRPr sz="1150">
                <a:solidFill>
                  <a:srgbClr val="232A34"/>
                </a:solidFill>
              </a:defRPr>
            </a:pPr>
            <a:r>
              <a:t>FastAPI exposes the prediction/assistant endpoints and Streamlit provides the interactive user interface.</a:t>
            </a:r>
          </a:p>
        </p:txBody>
      </p:sp>
      <p:sp>
        <p:nvSpPr>
          <p:cNvPr id="21" name="TextBox 20"/>
          <p:cNvSpPr txBox="1"/>
          <p:nvPr/>
        </p:nvSpPr>
        <p:spPr>
          <a:xfrm>
            <a:off x="822960" y="3794760"/>
            <a:ext cx="10332720" cy="2011680"/>
          </a:xfrm>
          <a:prstGeom prst="rect">
            <a:avLst/>
          </a:prstGeom>
          <a:noFill/>
        </p:spPr>
        <p:txBody>
          <a:bodyPr wrap="square" lIns="0" rIns="0">
            <a:spAutoFit/>
          </a:bodyPr>
          <a:lstStyle/>
          <a:p>
            <a:pPr>
              <a:spcAft>
                <a:spcPts val="900"/>
              </a:spcAft>
              <a:defRPr sz="1700">
                <a:solidFill>
                  <a:srgbClr val="232A34"/>
                </a:solidFill>
                <a:latin typeface="Aptos"/>
              </a:defRPr>
            </a:pPr>
            <a:r>
              <a:t>Historical traffic analysis</a:t>
            </a:r>
          </a:p>
          <a:p>
            <a:pPr>
              <a:spcAft>
                <a:spcPts val="900"/>
              </a:spcAft>
              <a:defRPr sz="1700">
                <a:solidFill>
                  <a:srgbClr val="232A34"/>
                </a:solidFill>
                <a:latin typeface="Aptos"/>
              </a:defRPr>
            </a:pPr>
            <a:r>
              <a:t>Model comparison and selection</a:t>
            </a:r>
          </a:p>
          <a:p>
            <a:pPr>
              <a:spcAft>
                <a:spcPts val="900"/>
              </a:spcAft>
              <a:defRPr sz="1700">
                <a:solidFill>
                  <a:srgbClr val="232A34"/>
                </a:solidFill>
                <a:latin typeface="Aptos"/>
              </a:defRPr>
            </a:pPr>
            <a:r>
              <a:t>24-hour sequence forecasting</a:t>
            </a:r>
          </a:p>
          <a:p>
            <a:pPr>
              <a:spcAft>
                <a:spcPts val="900"/>
              </a:spcAft>
              <a:defRPr sz="1700">
                <a:solidFill>
                  <a:srgbClr val="232A34"/>
                </a:solidFill>
                <a:latin typeface="Aptos"/>
              </a:defRPr>
            </a:pPr>
            <a:r>
              <a:t>Knowledge-base question answering</a:t>
            </a:r>
          </a:p>
          <a:p>
            <a:pPr>
              <a:spcAft>
                <a:spcPts val="900"/>
              </a:spcAft>
              <a:defRPr sz="1700">
                <a:solidFill>
                  <a:srgbClr val="232A34"/>
                </a:solidFill>
                <a:latin typeface="Aptos"/>
              </a:defRPr>
            </a:pPr>
            <a:r>
              <a:t>Integrated web 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2. Problem Statement &amp; Objectives</a:t>
            </a:r>
          </a:p>
        </p:txBody>
      </p:sp>
      <p:sp>
        <p:nvSpPr>
          <p:cNvPr id="5" name="Rectangle 4"/>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7" name="TextBox 6"/>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3</a:t>
            </a:r>
          </a:p>
        </p:txBody>
      </p:sp>
      <p:sp>
        <p:nvSpPr>
          <p:cNvPr id="8" name="Rounded Rectangle 7"/>
          <p:cNvSpPr/>
          <p:nvPr/>
        </p:nvSpPr>
        <p:spPr>
          <a:xfrm>
            <a:off x="594360" y="1188720"/>
            <a:ext cx="5303520" cy="45262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188720"/>
            <a:ext cx="64008" cy="4526280"/>
          </a:xfrm>
          <a:prstGeom prst="rect">
            <a:avLst/>
          </a:prstGeom>
          <a:solidFill>
            <a:srgbClr val="BE3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325880"/>
            <a:ext cx="4937759" cy="320040"/>
          </a:xfrm>
          <a:prstGeom prst="rect">
            <a:avLst/>
          </a:prstGeom>
          <a:noFill/>
        </p:spPr>
        <p:txBody>
          <a:bodyPr wrap="none">
            <a:spAutoFit/>
          </a:bodyPr>
          <a:lstStyle/>
          <a:p>
            <a:pPr>
              <a:defRPr sz="1500" b="1">
                <a:solidFill>
                  <a:srgbClr val="BE3741"/>
                </a:solidFill>
              </a:defRPr>
            </a:pPr>
            <a:r>
              <a:t>Problem statement</a:t>
            </a:r>
          </a:p>
        </p:txBody>
      </p:sp>
      <p:sp>
        <p:nvSpPr>
          <p:cNvPr id="11" name="TextBox 10"/>
          <p:cNvSpPr txBox="1"/>
          <p:nvPr/>
        </p:nvSpPr>
        <p:spPr>
          <a:xfrm>
            <a:off x="795528" y="1719072"/>
            <a:ext cx="4937759" cy="3867912"/>
          </a:xfrm>
          <a:prstGeom prst="rect">
            <a:avLst/>
          </a:prstGeom>
          <a:noFill/>
        </p:spPr>
        <p:txBody>
          <a:bodyPr wrap="square">
            <a:spAutoFit/>
          </a:bodyPr>
          <a:lstStyle/>
          <a:p>
            <a:pPr>
              <a:defRPr sz="1150">
                <a:solidFill>
                  <a:srgbClr val="232A34"/>
                </a:solidFill>
              </a:defRPr>
            </a:pPr>
            <a:r>
              <a:t>Existing traffic systems may provide numerical predictions but can be difficult for users to interpret. They may also miss complex temporal dependencies. The project therefore targets accurate prediction, temporal forecasting, understandable information and an interactive interface.</a:t>
            </a:r>
          </a:p>
        </p:txBody>
      </p:sp>
      <p:sp>
        <p:nvSpPr>
          <p:cNvPr id="12" name="TextBox 11"/>
          <p:cNvSpPr txBox="1"/>
          <p:nvPr/>
        </p:nvSpPr>
        <p:spPr>
          <a:xfrm>
            <a:off x="6217920" y="1325880"/>
            <a:ext cx="5166360" cy="4206240"/>
          </a:xfrm>
          <a:prstGeom prst="rect">
            <a:avLst/>
          </a:prstGeom>
          <a:noFill/>
        </p:spPr>
        <p:txBody>
          <a:bodyPr wrap="square" lIns="0" rIns="0">
            <a:spAutoFit/>
          </a:bodyPr>
          <a:lstStyle/>
          <a:p>
            <a:pPr>
              <a:spcAft>
                <a:spcPts val="900"/>
              </a:spcAft>
              <a:defRPr sz="1600">
                <a:solidFill>
                  <a:srgbClr val="232A34"/>
                </a:solidFill>
                <a:latin typeface="Aptos"/>
              </a:defRPr>
            </a:pPr>
            <a:r>
              <a:t>Preprocess historical traffic data</a:t>
            </a:r>
          </a:p>
          <a:p>
            <a:pPr>
              <a:spcAft>
                <a:spcPts val="900"/>
              </a:spcAft>
              <a:defRPr sz="1600">
                <a:solidFill>
                  <a:srgbClr val="232A34"/>
                </a:solidFill>
                <a:latin typeface="Aptos"/>
              </a:defRPr>
            </a:pPr>
            <a:r>
              <a:t>Identify temporal and environmental patterns</a:t>
            </a:r>
          </a:p>
          <a:p>
            <a:pPr>
              <a:spcAft>
                <a:spcPts val="900"/>
              </a:spcAft>
              <a:defRPr sz="1600">
                <a:solidFill>
                  <a:srgbClr val="232A34"/>
                </a:solidFill>
                <a:latin typeface="Aptos"/>
              </a:defRPr>
            </a:pPr>
            <a:r>
              <a:t>Develop and compare ML models</a:t>
            </a:r>
          </a:p>
          <a:p>
            <a:pPr>
              <a:spcAft>
                <a:spcPts val="900"/>
              </a:spcAft>
              <a:defRPr sz="1600">
                <a:solidFill>
                  <a:srgbClr val="232A34"/>
                </a:solidFill>
                <a:latin typeface="Aptos"/>
              </a:defRPr>
            </a:pPr>
            <a:r>
              <a:t>Develop an LSTM time-series model</a:t>
            </a:r>
          </a:p>
          <a:p>
            <a:pPr>
              <a:spcAft>
                <a:spcPts val="900"/>
              </a:spcAft>
              <a:defRPr sz="1600">
                <a:solidFill>
                  <a:srgbClr val="232A34"/>
                </a:solidFill>
                <a:latin typeface="Aptos"/>
              </a:defRPr>
            </a:pPr>
            <a:r>
              <a:t>Build a RAG-based Intelligent Traffic Assistant</a:t>
            </a:r>
          </a:p>
          <a:p>
            <a:pPr>
              <a:spcAft>
                <a:spcPts val="900"/>
              </a:spcAft>
              <a:defRPr sz="1600">
                <a:solidFill>
                  <a:srgbClr val="232A34"/>
                </a:solidFill>
                <a:latin typeface="Aptos"/>
              </a:defRPr>
            </a:pPr>
            <a:r>
              <a:t>Expose the system through an interactive dashboard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3. Dataset &amp; Data Understanding</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Metro Interstate Traffic Volume — hourly observations from westbound I-94</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4</a:t>
            </a:r>
          </a:p>
        </p:txBody>
      </p:sp>
      <p:sp>
        <p:nvSpPr>
          <p:cNvPr id="9" name="Rounded Rectangle 8"/>
          <p:cNvSpPr/>
          <p:nvPr/>
        </p:nvSpPr>
        <p:spPr>
          <a:xfrm>
            <a:off x="594360" y="1188720"/>
            <a:ext cx="201168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307592"/>
            <a:ext cx="1792224" cy="256032"/>
          </a:xfrm>
          <a:prstGeom prst="rect">
            <a:avLst/>
          </a:prstGeom>
          <a:noFill/>
        </p:spPr>
        <p:txBody>
          <a:bodyPr wrap="none">
            <a:spAutoFit/>
          </a:bodyPr>
          <a:lstStyle/>
          <a:p>
            <a:pPr algn="ctr">
              <a:defRPr sz="1050">
                <a:solidFill>
                  <a:srgbClr val="646E7D"/>
                </a:solidFill>
              </a:defRPr>
            </a:pPr>
            <a:r>
              <a:t>Original rows</a:t>
            </a:r>
          </a:p>
        </p:txBody>
      </p:sp>
      <p:sp>
        <p:nvSpPr>
          <p:cNvPr id="11" name="TextBox 10"/>
          <p:cNvSpPr txBox="1"/>
          <p:nvPr/>
        </p:nvSpPr>
        <p:spPr>
          <a:xfrm>
            <a:off x="704088" y="1581912"/>
            <a:ext cx="1792224" cy="411480"/>
          </a:xfrm>
          <a:prstGeom prst="rect">
            <a:avLst/>
          </a:prstGeom>
          <a:noFill/>
        </p:spPr>
        <p:txBody>
          <a:bodyPr wrap="none">
            <a:spAutoFit/>
          </a:bodyPr>
          <a:lstStyle/>
          <a:p>
            <a:pPr algn="ctr">
              <a:defRPr sz="2100" b="1">
                <a:solidFill>
                  <a:srgbClr val="2D63BE"/>
                </a:solidFill>
              </a:defRPr>
            </a:pPr>
            <a:r>
              <a:t>48,187</a:t>
            </a:r>
          </a:p>
        </p:txBody>
      </p:sp>
      <p:sp>
        <p:nvSpPr>
          <p:cNvPr id="12" name="Rounded Rectangle 11"/>
          <p:cNvSpPr/>
          <p:nvPr/>
        </p:nvSpPr>
        <p:spPr>
          <a:xfrm>
            <a:off x="2788920" y="1188720"/>
            <a:ext cx="201168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98648" y="1307592"/>
            <a:ext cx="1792224" cy="256032"/>
          </a:xfrm>
          <a:prstGeom prst="rect">
            <a:avLst/>
          </a:prstGeom>
          <a:noFill/>
        </p:spPr>
        <p:txBody>
          <a:bodyPr wrap="none">
            <a:spAutoFit/>
          </a:bodyPr>
          <a:lstStyle/>
          <a:p>
            <a:pPr algn="ctr">
              <a:defRPr sz="1050">
                <a:solidFill>
                  <a:srgbClr val="646E7D"/>
                </a:solidFill>
              </a:defRPr>
            </a:pPr>
            <a:r>
              <a:t>Original columns</a:t>
            </a:r>
          </a:p>
        </p:txBody>
      </p:sp>
      <p:sp>
        <p:nvSpPr>
          <p:cNvPr id="14" name="TextBox 13"/>
          <p:cNvSpPr txBox="1"/>
          <p:nvPr/>
        </p:nvSpPr>
        <p:spPr>
          <a:xfrm>
            <a:off x="2898648" y="1581912"/>
            <a:ext cx="1792224" cy="411480"/>
          </a:xfrm>
          <a:prstGeom prst="rect">
            <a:avLst/>
          </a:prstGeom>
          <a:noFill/>
        </p:spPr>
        <p:txBody>
          <a:bodyPr wrap="none">
            <a:spAutoFit/>
          </a:bodyPr>
          <a:lstStyle/>
          <a:p>
            <a:pPr algn="ctr">
              <a:defRPr sz="2100" b="1">
                <a:solidFill>
                  <a:srgbClr val="2D63BE"/>
                </a:solidFill>
              </a:defRPr>
            </a:pPr>
            <a:r>
              <a:t>9</a:t>
            </a:r>
          </a:p>
        </p:txBody>
      </p:sp>
      <p:sp>
        <p:nvSpPr>
          <p:cNvPr id="15" name="Rounded Rectangle 14"/>
          <p:cNvSpPr/>
          <p:nvPr/>
        </p:nvSpPr>
        <p:spPr>
          <a:xfrm>
            <a:off x="4983480" y="1188720"/>
            <a:ext cx="201168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93208" y="1307592"/>
            <a:ext cx="1792224" cy="256032"/>
          </a:xfrm>
          <a:prstGeom prst="rect">
            <a:avLst/>
          </a:prstGeom>
          <a:noFill/>
        </p:spPr>
        <p:txBody>
          <a:bodyPr wrap="none">
            <a:spAutoFit/>
          </a:bodyPr>
          <a:lstStyle/>
          <a:p>
            <a:pPr algn="ctr">
              <a:defRPr sz="1050">
                <a:solidFill>
                  <a:srgbClr val="646E7D"/>
                </a:solidFill>
              </a:defRPr>
            </a:pPr>
            <a:r>
              <a:t>Clean rows</a:t>
            </a:r>
          </a:p>
        </p:txBody>
      </p:sp>
      <p:sp>
        <p:nvSpPr>
          <p:cNvPr id="17" name="TextBox 16"/>
          <p:cNvSpPr txBox="1"/>
          <p:nvPr/>
        </p:nvSpPr>
        <p:spPr>
          <a:xfrm>
            <a:off x="5093208" y="1581912"/>
            <a:ext cx="1792224" cy="411480"/>
          </a:xfrm>
          <a:prstGeom prst="rect">
            <a:avLst/>
          </a:prstGeom>
          <a:noFill/>
        </p:spPr>
        <p:txBody>
          <a:bodyPr wrap="none">
            <a:spAutoFit/>
          </a:bodyPr>
          <a:lstStyle/>
          <a:p>
            <a:pPr algn="ctr">
              <a:defRPr sz="2100" b="1">
                <a:solidFill>
                  <a:srgbClr val="34824B"/>
                </a:solidFill>
              </a:defRPr>
            </a:pPr>
            <a:r>
              <a:t>40,575</a:t>
            </a:r>
          </a:p>
        </p:txBody>
      </p:sp>
      <p:sp>
        <p:nvSpPr>
          <p:cNvPr id="18" name="Rounded Rectangle 17"/>
          <p:cNvSpPr/>
          <p:nvPr/>
        </p:nvSpPr>
        <p:spPr>
          <a:xfrm>
            <a:off x="7178040" y="1188720"/>
            <a:ext cx="201168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87768" y="1307592"/>
            <a:ext cx="1792224" cy="256032"/>
          </a:xfrm>
          <a:prstGeom prst="rect">
            <a:avLst/>
          </a:prstGeom>
          <a:noFill/>
        </p:spPr>
        <p:txBody>
          <a:bodyPr wrap="none">
            <a:spAutoFit/>
          </a:bodyPr>
          <a:lstStyle/>
          <a:p>
            <a:pPr algn="ctr">
              <a:defRPr sz="1050">
                <a:solidFill>
                  <a:srgbClr val="646E7D"/>
                </a:solidFill>
              </a:defRPr>
            </a:pPr>
            <a:r>
              <a:t>Final ML features</a:t>
            </a:r>
          </a:p>
        </p:txBody>
      </p:sp>
      <p:sp>
        <p:nvSpPr>
          <p:cNvPr id="20" name="TextBox 19"/>
          <p:cNvSpPr txBox="1"/>
          <p:nvPr/>
        </p:nvSpPr>
        <p:spPr>
          <a:xfrm>
            <a:off x="7287768" y="1581912"/>
            <a:ext cx="1792224" cy="411480"/>
          </a:xfrm>
          <a:prstGeom prst="rect">
            <a:avLst/>
          </a:prstGeom>
          <a:noFill/>
        </p:spPr>
        <p:txBody>
          <a:bodyPr wrap="none">
            <a:spAutoFit/>
          </a:bodyPr>
          <a:lstStyle/>
          <a:p>
            <a:pPr algn="ctr">
              <a:defRPr sz="2100" b="1">
                <a:solidFill>
                  <a:srgbClr val="734BA5"/>
                </a:solidFill>
              </a:defRPr>
            </a:pPr>
            <a:r>
              <a:t>12</a:t>
            </a:r>
          </a:p>
        </p:txBody>
      </p:sp>
      <p:sp>
        <p:nvSpPr>
          <p:cNvPr id="21" name="Rounded Rectangle 20"/>
          <p:cNvSpPr/>
          <p:nvPr/>
        </p:nvSpPr>
        <p:spPr>
          <a:xfrm>
            <a:off x="9372600" y="1188720"/>
            <a:ext cx="201168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82328" y="1307592"/>
            <a:ext cx="1792224" cy="256032"/>
          </a:xfrm>
          <a:prstGeom prst="rect">
            <a:avLst/>
          </a:prstGeom>
          <a:noFill/>
        </p:spPr>
        <p:txBody>
          <a:bodyPr wrap="none">
            <a:spAutoFit/>
          </a:bodyPr>
          <a:lstStyle/>
          <a:p>
            <a:pPr algn="ctr">
              <a:defRPr sz="1050">
                <a:solidFill>
                  <a:srgbClr val="646E7D"/>
                </a:solidFill>
              </a:defRPr>
            </a:pPr>
            <a:r>
              <a:t>Target</a:t>
            </a:r>
          </a:p>
        </p:txBody>
      </p:sp>
      <p:sp>
        <p:nvSpPr>
          <p:cNvPr id="23" name="TextBox 22"/>
          <p:cNvSpPr txBox="1"/>
          <p:nvPr/>
        </p:nvSpPr>
        <p:spPr>
          <a:xfrm>
            <a:off x="9482328" y="1581912"/>
            <a:ext cx="1792224" cy="411480"/>
          </a:xfrm>
          <a:prstGeom prst="rect">
            <a:avLst/>
          </a:prstGeom>
          <a:noFill/>
        </p:spPr>
        <p:txBody>
          <a:bodyPr wrap="none">
            <a:spAutoFit/>
          </a:bodyPr>
          <a:lstStyle/>
          <a:p>
            <a:pPr algn="ctr">
              <a:defRPr sz="2100" b="1">
                <a:solidFill>
                  <a:srgbClr val="DC782D"/>
                </a:solidFill>
              </a:defRPr>
            </a:pPr>
            <a:r>
              <a:t>traffic_volume</a:t>
            </a:r>
          </a:p>
        </p:txBody>
      </p:sp>
      <p:sp>
        <p:nvSpPr>
          <p:cNvPr id="24" name="Rounded Rectangle 23"/>
          <p:cNvSpPr/>
          <p:nvPr/>
        </p:nvSpPr>
        <p:spPr>
          <a:xfrm>
            <a:off x="594360" y="2514600"/>
            <a:ext cx="5257800" cy="25603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4360" y="2514600"/>
            <a:ext cx="64008" cy="256032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5528" y="2651760"/>
            <a:ext cx="4892040" cy="320040"/>
          </a:xfrm>
          <a:prstGeom prst="rect">
            <a:avLst/>
          </a:prstGeom>
          <a:noFill/>
        </p:spPr>
        <p:txBody>
          <a:bodyPr wrap="none">
            <a:spAutoFit/>
          </a:bodyPr>
          <a:lstStyle/>
          <a:p>
            <a:pPr>
              <a:defRPr sz="1500" b="1">
                <a:solidFill>
                  <a:srgbClr val="2D63BE"/>
                </a:solidFill>
              </a:defRPr>
            </a:pPr>
            <a:r>
              <a:t>Input variables</a:t>
            </a:r>
          </a:p>
        </p:txBody>
      </p:sp>
      <p:sp>
        <p:nvSpPr>
          <p:cNvPr id="27" name="TextBox 26"/>
          <p:cNvSpPr txBox="1"/>
          <p:nvPr/>
        </p:nvSpPr>
        <p:spPr>
          <a:xfrm>
            <a:off x="795528" y="3044952"/>
            <a:ext cx="4892040" cy="1901952"/>
          </a:xfrm>
          <a:prstGeom prst="rect">
            <a:avLst/>
          </a:prstGeom>
          <a:noFill/>
        </p:spPr>
        <p:txBody>
          <a:bodyPr wrap="square">
            <a:spAutoFit/>
          </a:bodyPr>
          <a:lstStyle/>
          <a:p>
            <a:pPr>
              <a:defRPr sz="1150">
                <a:solidFill>
                  <a:srgbClr val="232A34"/>
                </a:solidFill>
              </a:defRPr>
            </a:pPr>
            <a:r>
              <a:t>Temperature, rain, snow, cloud coverage, holiday, weather category, hour, day, day of week, month, year and weekend indicator.</a:t>
            </a:r>
          </a:p>
        </p:txBody>
      </p:sp>
      <p:sp>
        <p:nvSpPr>
          <p:cNvPr id="28" name="Rounded Rectangle 27"/>
          <p:cNvSpPr/>
          <p:nvPr/>
        </p:nvSpPr>
        <p:spPr>
          <a:xfrm>
            <a:off x="6126480" y="2514600"/>
            <a:ext cx="5257800" cy="25603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26480" y="2514600"/>
            <a:ext cx="64008" cy="256032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27648" y="2651760"/>
            <a:ext cx="4892040" cy="320040"/>
          </a:xfrm>
          <a:prstGeom prst="rect">
            <a:avLst/>
          </a:prstGeom>
          <a:noFill/>
        </p:spPr>
        <p:txBody>
          <a:bodyPr wrap="none">
            <a:spAutoFit/>
          </a:bodyPr>
          <a:lstStyle/>
          <a:p>
            <a:pPr>
              <a:defRPr sz="1500" b="1">
                <a:solidFill>
                  <a:srgbClr val="34824B"/>
                </a:solidFill>
              </a:defRPr>
            </a:pPr>
            <a:r>
              <a:t>Data quality findings</a:t>
            </a:r>
          </a:p>
        </p:txBody>
      </p:sp>
      <p:sp>
        <p:nvSpPr>
          <p:cNvPr id="31" name="TextBox 30"/>
          <p:cNvSpPr txBox="1"/>
          <p:nvPr/>
        </p:nvSpPr>
        <p:spPr>
          <a:xfrm>
            <a:off x="6327648" y="3044952"/>
            <a:ext cx="4892040" cy="1901952"/>
          </a:xfrm>
          <a:prstGeom prst="rect">
            <a:avLst/>
          </a:prstGeom>
          <a:noFill/>
        </p:spPr>
        <p:txBody>
          <a:bodyPr wrap="square">
            <a:spAutoFit/>
          </a:bodyPr>
          <a:lstStyle/>
          <a:p>
            <a:pPr>
              <a:defRPr sz="1150">
                <a:solidFill>
                  <a:srgbClr val="232A34"/>
                </a:solidFill>
              </a:defRPr>
            </a:pPr>
            <a:r>
              <a:rPr dirty="0"/>
              <a:t>No missing values after cleaning. Exact duplicate rows removed. 13,042 rows belonged to duplicated timestamp groups; each timestamp had only one unique traffic value, so repeated timestamps were reduced to 40,575 unique observations.</a:t>
            </a:r>
          </a:p>
        </p:txBody>
      </p:sp>
      <p:sp>
        <p:nvSpPr>
          <p:cNvPr id="32" name="Rounded Rectangle 31"/>
          <p:cNvSpPr/>
          <p:nvPr/>
        </p:nvSpPr>
        <p:spPr>
          <a:xfrm>
            <a:off x="594360" y="5303520"/>
            <a:ext cx="10789920" cy="82296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94360" y="5303520"/>
            <a:ext cx="64008" cy="82296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95528" y="5440680"/>
            <a:ext cx="10424160" cy="320040"/>
          </a:xfrm>
          <a:prstGeom prst="rect">
            <a:avLst/>
          </a:prstGeom>
          <a:noFill/>
        </p:spPr>
        <p:txBody>
          <a:bodyPr wrap="none">
            <a:spAutoFit/>
          </a:bodyPr>
          <a:lstStyle/>
          <a:p>
            <a:pPr>
              <a:defRPr sz="1500" b="1">
                <a:solidFill>
                  <a:srgbClr val="DC782D"/>
                </a:solidFill>
              </a:defRPr>
            </a:pPr>
            <a:r>
              <a:t>Target</a:t>
            </a:r>
          </a:p>
        </p:txBody>
      </p:sp>
      <p:sp>
        <p:nvSpPr>
          <p:cNvPr id="35" name="TextBox 34"/>
          <p:cNvSpPr txBox="1"/>
          <p:nvPr/>
        </p:nvSpPr>
        <p:spPr>
          <a:xfrm>
            <a:off x="795528" y="5833872"/>
            <a:ext cx="10424160" cy="164592"/>
          </a:xfrm>
          <a:prstGeom prst="rect">
            <a:avLst/>
          </a:prstGeom>
          <a:noFill/>
        </p:spPr>
        <p:txBody>
          <a:bodyPr wrap="square">
            <a:spAutoFit/>
          </a:bodyPr>
          <a:lstStyle/>
          <a:p>
            <a:pPr>
              <a:defRPr sz="1150">
                <a:solidFill>
                  <a:srgbClr val="232A34"/>
                </a:solidFill>
              </a:defRPr>
            </a:pPr>
            <a:r>
              <a:t>Traffic volume in vehicles/hour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4. Data Preprocessing &amp; Feature Engineering</a:t>
            </a:r>
          </a:p>
        </p:txBody>
      </p:sp>
      <p:sp>
        <p:nvSpPr>
          <p:cNvPr id="5" name="Rectangle 4"/>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7" name="TextBox 6"/>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5</a:t>
            </a:r>
          </a:p>
        </p:txBody>
      </p:sp>
      <p:sp>
        <p:nvSpPr>
          <p:cNvPr id="8" name="Rounded Rectangle 7"/>
          <p:cNvSpPr/>
          <p:nvPr/>
        </p:nvSpPr>
        <p:spPr>
          <a:xfrm>
            <a:off x="640080" y="1325880"/>
            <a:ext cx="1965960" cy="30175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325880"/>
            <a:ext cx="64008" cy="301752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463039"/>
            <a:ext cx="1600200" cy="320040"/>
          </a:xfrm>
          <a:prstGeom prst="rect">
            <a:avLst/>
          </a:prstGeom>
          <a:noFill/>
        </p:spPr>
        <p:txBody>
          <a:bodyPr wrap="none">
            <a:spAutoFit/>
          </a:bodyPr>
          <a:lstStyle/>
          <a:p>
            <a:pPr>
              <a:defRPr sz="1500" b="1">
                <a:solidFill>
                  <a:srgbClr val="2D63BE"/>
                </a:solidFill>
              </a:defRPr>
            </a:pPr>
            <a:r>
              <a:t>Clean</a:t>
            </a:r>
          </a:p>
        </p:txBody>
      </p:sp>
      <p:sp>
        <p:nvSpPr>
          <p:cNvPr id="11" name="TextBox 10"/>
          <p:cNvSpPr txBox="1"/>
          <p:nvPr/>
        </p:nvSpPr>
        <p:spPr>
          <a:xfrm>
            <a:off x="841247" y="1856231"/>
            <a:ext cx="1600200" cy="2359152"/>
          </a:xfrm>
          <a:prstGeom prst="rect">
            <a:avLst/>
          </a:prstGeom>
          <a:noFill/>
        </p:spPr>
        <p:txBody>
          <a:bodyPr wrap="square">
            <a:spAutoFit/>
          </a:bodyPr>
          <a:lstStyle/>
          <a:p>
            <a:pPr>
              <a:defRPr sz="1150">
                <a:solidFill>
                  <a:srgbClr val="232A34"/>
                </a:solidFill>
              </a:defRPr>
            </a:pPr>
            <a:r>
              <a:t>Remove exact duplicates and repeated timestamps</a:t>
            </a:r>
          </a:p>
        </p:txBody>
      </p:sp>
      <p:sp>
        <p:nvSpPr>
          <p:cNvPr id="12" name="Chevron 11"/>
          <p:cNvSpPr/>
          <p:nvPr/>
        </p:nvSpPr>
        <p:spPr>
          <a:xfrm>
            <a:off x="2633472" y="2395728"/>
            <a:ext cx="246888" cy="502920"/>
          </a:xfrm>
          <a:prstGeom prst="chevron">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880360" y="1325880"/>
            <a:ext cx="1965960" cy="30175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880360" y="1325880"/>
            <a:ext cx="64008" cy="301752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81528" y="1463039"/>
            <a:ext cx="1600200" cy="320040"/>
          </a:xfrm>
          <a:prstGeom prst="rect">
            <a:avLst/>
          </a:prstGeom>
          <a:noFill/>
        </p:spPr>
        <p:txBody>
          <a:bodyPr wrap="none">
            <a:spAutoFit/>
          </a:bodyPr>
          <a:lstStyle/>
          <a:p>
            <a:pPr>
              <a:defRPr sz="1500" b="1">
                <a:solidFill>
                  <a:srgbClr val="34824B"/>
                </a:solidFill>
              </a:defRPr>
            </a:pPr>
            <a:r>
              <a:t>Time features</a:t>
            </a:r>
          </a:p>
        </p:txBody>
      </p:sp>
      <p:sp>
        <p:nvSpPr>
          <p:cNvPr id="16" name="TextBox 15"/>
          <p:cNvSpPr txBox="1"/>
          <p:nvPr/>
        </p:nvSpPr>
        <p:spPr>
          <a:xfrm>
            <a:off x="3081528" y="1856231"/>
            <a:ext cx="1600200" cy="2359152"/>
          </a:xfrm>
          <a:prstGeom prst="rect">
            <a:avLst/>
          </a:prstGeom>
          <a:noFill/>
        </p:spPr>
        <p:txBody>
          <a:bodyPr wrap="square">
            <a:spAutoFit/>
          </a:bodyPr>
          <a:lstStyle/>
          <a:p>
            <a:pPr>
              <a:defRPr sz="1150">
                <a:solidFill>
                  <a:srgbClr val="232A34"/>
                </a:solidFill>
              </a:defRPr>
            </a:pPr>
            <a:r>
              <a:t>Extract hour, day, weekday, month, year, weekend</a:t>
            </a:r>
          </a:p>
        </p:txBody>
      </p:sp>
      <p:sp>
        <p:nvSpPr>
          <p:cNvPr id="17" name="Chevron 16"/>
          <p:cNvSpPr/>
          <p:nvPr/>
        </p:nvSpPr>
        <p:spPr>
          <a:xfrm>
            <a:off x="4873752" y="2395728"/>
            <a:ext cx="246888" cy="502920"/>
          </a:xfrm>
          <a:prstGeom prst="chevron">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120640" y="1325880"/>
            <a:ext cx="1965960" cy="30175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20640" y="1325880"/>
            <a:ext cx="64008" cy="301752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21808" y="1463039"/>
            <a:ext cx="1600200" cy="320040"/>
          </a:xfrm>
          <a:prstGeom prst="rect">
            <a:avLst/>
          </a:prstGeom>
          <a:noFill/>
        </p:spPr>
        <p:txBody>
          <a:bodyPr wrap="none">
            <a:spAutoFit/>
          </a:bodyPr>
          <a:lstStyle/>
          <a:p>
            <a:pPr>
              <a:defRPr sz="1500" b="1">
                <a:solidFill>
                  <a:srgbClr val="734BA5"/>
                </a:solidFill>
              </a:defRPr>
            </a:pPr>
            <a:r>
              <a:t>Categorical encoding</a:t>
            </a:r>
          </a:p>
        </p:txBody>
      </p:sp>
      <p:sp>
        <p:nvSpPr>
          <p:cNvPr id="21" name="TextBox 20"/>
          <p:cNvSpPr txBox="1"/>
          <p:nvPr/>
        </p:nvSpPr>
        <p:spPr>
          <a:xfrm>
            <a:off x="5321808" y="1856231"/>
            <a:ext cx="1600200" cy="2359152"/>
          </a:xfrm>
          <a:prstGeom prst="rect">
            <a:avLst/>
          </a:prstGeom>
          <a:noFill/>
        </p:spPr>
        <p:txBody>
          <a:bodyPr wrap="square">
            <a:spAutoFit/>
          </a:bodyPr>
          <a:lstStyle/>
          <a:p>
            <a:pPr>
              <a:defRPr sz="1150">
                <a:solidFill>
                  <a:srgbClr val="232A34"/>
                </a:solidFill>
              </a:defRPr>
            </a:pPr>
            <a:r>
              <a:t>One-hot encode holiday and weather_main</a:t>
            </a:r>
          </a:p>
        </p:txBody>
      </p:sp>
      <p:sp>
        <p:nvSpPr>
          <p:cNvPr id="22" name="Chevron 21"/>
          <p:cNvSpPr/>
          <p:nvPr/>
        </p:nvSpPr>
        <p:spPr>
          <a:xfrm>
            <a:off x="7114032" y="2395728"/>
            <a:ext cx="246888" cy="502920"/>
          </a:xfrm>
          <a:prstGeom prst="chevron">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360920" y="1325880"/>
            <a:ext cx="1965960" cy="30175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60920" y="1325880"/>
            <a:ext cx="64008" cy="301752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62088" y="1463039"/>
            <a:ext cx="1600200" cy="320040"/>
          </a:xfrm>
          <a:prstGeom prst="rect">
            <a:avLst/>
          </a:prstGeom>
          <a:noFill/>
        </p:spPr>
        <p:txBody>
          <a:bodyPr wrap="none">
            <a:spAutoFit/>
          </a:bodyPr>
          <a:lstStyle/>
          <a:p>
            <a:pPr>
              <a:defRPr sz="1500" b="1">
                <a:solidFill>
                  <a:srgbClr val="DC782D"/>
                </a:solidFill>
              </a:defRPr>
            </a:pPr>
            <a:r>
              <a:t>Chronological split</a:t>
            </a:r>
          </a:p>
        </p:txBody>
      </p:sp>
      <p:sp>
        <p:nvSpPr>
          <p:cNvPr id="26" name="TextBox 25"/>
          <p:cNvSpPr txBox="1"/>
          <p:nvPr/>
        </p:nvSpPr>
        <p:spPr>
          <a:xfrm>
            <a:off x="7562088" y="1856231"/>
            <a:ext cx="1600200" cy="2359152"/>
          </a:xfrm>
          <a:prstGeom prst="rect">
            <a:avLst/>
          </a:prstGeom>
          <a:noFill/>
        </p:spPr>
        <p:txBody>
          <a:bodyPr wrap="square">
            <a:spAutoFit/>
          </a:bodyPr>
          <a:lstStyle/>
          <a:p>
            <a:pPr>
              <a:defRPr sz="1150">
                <a:solidFill>
                  <a:srgbClr val="232A34"/>
                </a:solidFill>
              </a:defRPr>
            </a:pPr>
            <a:r>
              <a:t>80% train / 20% test without future leakage</a:t>
            </a:r>
          </a:p>
        </p:txBody>
      </p:sp>
      <p:sp>
        <p:nvSpPr>
          <p:cNvPr id="27" name="Chevron 26"/>
          <p:cNvSpPr/>
          <p:nvPr/>
        </p:nvSpPr>
        <p:spPr>
          <a:xfrm>
            <a:off x="9354312" y="2395728"/>
            <a:ext cx="246888" cy="502920"/>
          </a:xfrm>
          <a:prstGeom prst="chevron">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601200" y="1325880"/>
            <a:ext cx="1965960" cy="30175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601200" y="1325880"/>
            <a:ext cx="64008" cy="3017520"/>
          </a:xfrm>
          <a:prstGeom prst="rect">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02368" y="1463039"/>
            <a:ext cx="1600200" cy="320040"/>
          </a:xfrm>
          <a:prstGeom prst="rect">
            <a:avLst/>
          </a:prstGeom>
          <a:noFill/>
        </p:spPr>
        <p:txBody>
          <a:bodyPr wrap="none">
            <a:spAutoFit/>
          </a:bodyPr>
          <a:lstStyle/>
          <a:p>
            <a:pPr>
              <a:defRPr sz="1500" b="1">
                <a:solidFill>
                  <a:srgbClr val="349AB4"/>
                </a:solidFill>
              </a:defRPr>
            </a:pPr>
            <a:r>
              <a:t>Model-ready data</a:t>
            </a:r>
          </a:p>
        </p:txBody>
      </p:sp>
      <p:sp>
        <p:nvSpPr>
          <p:cNvPr id="31" name="TextBox 30"/>
          <p:cNvSpPr txBox="1"/>
          <p:nvPr/>
        </p:nvSpPr>
        <p:spPr>
          <a:xfrm>
            <a:off x="9802368" y="1856231"/>
            <a:ext cx="1600200" cy="2359152"/>
          </a:xfrm>
          <a:prstGeom prst="rect">
            <a:avLst/>
          </a:prstGeom>
          <a:noFill/>
        </p:spPr>
        <p:txBody>
          <a:bodyPr wrap="square">
            <a:spAutoFit/>
          </a:bodyPr>
          <a:lstStyle/>
          <a:p>
            <a:pPr>
              <a:defRPr sz="1150">
                <a:solidFill>
                  <a:srgbClr val="232A34"/>
                </a:solidFill>
              </a:defRPr>
            </a:pPr>
            <a:r>
              <a:t>33 transformed features for ML</a:t>
            </a:r>
          </a:p>
        </p:txBody>
      </p:sp>
      <p:sp>
        <p:nvSpPr>
          <p:cNvPr id="32" name="Rounded Rectangle 31"/>
          <p:cNvSpPr/>
          <p:nvPr/>
        </p:nvSpPr>
        <p:spPr>
          <a:xfrm>
            <a:off x="777240" y="4800600"/>
            <a:ext cx="5029200" cy="914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77240" y="4800600"/>
            <a:ext cx="64008" cy="91440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78408" y="4937760"/>
            <a:ext cx="4663440" cy="320040"/>
          </a:xfrm>
          <a:prstGeom prst="rect">
            <a:avLst/>
          </a:prstGeom>
          <a:noFill/>
        </p:spPr>
        <p:txBody>
          <a:bodyPr wrap="none">
            <a:spAutoFit/>
          </a:bodyPr>
          <a:lstStyle/>
          <a:p>
            <a:pPr>
              <a:defRPr sz="1500" b="1">
                <a:solidFill>
                  <a:srgbClr val="2D63BE"/>
                </a:solidFill>
              </a:defRPr>
            </a:pPr>
            <a:r>
              <a:t>Training set</a:t>
            </a:r>
          </a:p>
        </p:txBody>
      </p:sp>
      <p:sp>
        <p:nvSpPr>
          <p:cNvPr id="35" name="TextBox 34"/>
          <p:cNvSpPr txBox="1"/>
          <p:nvPr/>
        </p:nvSpPr>
        <p:spPr>
          <a:xfrm>
            <a:off x="978408" y="5330952"/>
            <a:ext cx="4663440" cy="256032"/>
          </a:xfrm>
          <a:prstGeom prst="rect">
            <a:avLst/>
          </a:prstGeom>
          <a:noFill/>
        </p:spPr>
        <p:txBody>
          <a:bodyPr wrap="square">
            <a:spAutoFit/>
          </a:bodyPr>
          <a:lstStyle/>
          <a:p>
            <a:pPr>
              <a:defRPr sz="1150">
                <a:solidFill>
                  <a:srgbClr val="232A34"/>
                </a:solidFill>
              </a:defRPr>
            </a:pPr>
            <a:r>
              <a:t>32,460 observations • 2012-10-02 → 2017-10-26</a:t>
            </a:r>
          </a:p>
        </p:txBody>
      </p:sp>
      <p:sp>
        <p:nvSpPr>
          <p:cNvPr id="36" name="Rounded Rectangle 35"/>
          <p:cNvSpPr/>
          <p:nvPr/>
        </p:nvSpPr>
        <p:spPr>
          <a:xfrm>
            <a:off x="6355080" y="4800600"/>
            <a:ext cx="5029200" cy="914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355080" y="4800600"/>
            <a:ext cx="64008" cy="91440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56248" y="4937760"/>
            <a:ext cx="4663440" cy="320040"/>
          </a:xfrm>
          <a:prstGeom prst="rect">
            <a:avLst/>
          </a:prstGeom>
          <a:noFill/>
        </p:spPr>
        <p:txBody>
          <a:bodyPr wrap="none">
            <a:spAutoFit/>
          </a:bodyPr>
          <a:lstStyle/>
          <a:p>
            <a:pPr>
              <a:defRPr sz="1500" b="1">
                <a:solidFill>
                  <a:srgbClr val="DC782D"/>
                </a:solidFill>
              </a:defRPr>
            </a:pPr>
            <a:r>
              <a:t>Test set</a:t>
            </a:r>
          </a:p>
        </p:txBody>
      </p:sp>
      <p:sp>
        <p:nvSpPr>
          <p:cNvPr id="39" name="TextBox 38"/>
          <p:cNvSpPr txBox="1"/>
          <p:nvPr/>
        </p:nvSpPr>
        <p:spPr>
          <a:xfrm>
            <a:off x="6556248" y="5330952"/>
            <a:ext cx="4663440" cy="256032"/>
          </a:xfrm>
          <a:prstGeom prst="rect">
            <a:avLst/>
          </a:prstGeom>
          <a:noFill/>
        </p:spPr>
        <p:txBody>
          <a:bodyPr wrap="square">
            <a:spAutoFit/>
          </a:bodyPr>
          <a:lstStyle/>
          <a:p>
            <a:pPr>
              <a:defRPr sz="1150">
                <a:solidFill>
                  <a:srgbClr val="232A34"/>
                </a:solidFill>
              </a:defRPr>
            </a:pPr>
            <a:r>
              <a:t>8,115 observations • 2017-10-26 → 2018-09-30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5. Exploratory Data Analysis</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The project examined hourly, weekly, monthly and weather-related traffic patterns</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6</a:t>
            </a:r>
          </a:p>
        </p:txBody>
      </p:sp>
      <p:pic>
        <p:nvPicPr>
          <p:cNvPr id="9" name="Picture 8" descr="ml_47.png"/>
          <p:cNvPicPr>
            <a:picLocks noChangeAspect="1"/>
          </p:cNvPicPr>
          <p:nvPr/>
        </p:nvPicPr>
        <p:blipFill>
          <a:blip r:embed="rId2"/>
          <a:stretch>
            <a:fillRect/>
          </a:stretch>
        </p:blipFill>
        <p:spPr>
          <a:xfrm>
            <a:off x="1119265" y="1143000"/>
            <a:ext cx="4345150" cy="2377440"/>
          </a:xfrm>
          <a:prstGeom prst="rect">
            <a:avLst/>
          </a:prstGeom>
        </p:spPr>
      </p:pic>
      <p:pic>
        <p:nvPicPr>
          <p:cNvPr id="10" name="Picture 9" descr="ml_48.png"/>
          <p:cNvPicPr>
            <a:picLocks noChangeAspect="1"/>
          </p:cNvPicPr>
          <p:nvPr/>
        </p:nvPicPr>
        <p:blipFill>
          <a:blip r:embed="rId3"/>
          <a:stretch>
            <a:fillRect/>
          </a:stretch>
        </p:blipFill>
        <p:spPr>
          <a:xfrm>
            <a:off x="6516126" y="1143000"/>
            <a:ext cx="4798547" cy="2377440"/>
          </a:xfrm>
          <a:prstGeom prst="rect">
            <a:avLst/>
          </a:prstGeom>
        </p:spPr>
      </p:pic>
      <p:pic>
        <p:nvPicPr>
          <p:cNvPr id="11" name="Picture 10" descr="ml_51.png"/>
          <p:cNvPicPr>
            <a:picLocks noChangeAspect="1"/>
          </p:cNvPicPr>
          <p:nvPr/>
        </p:nvPicPr>
        <p:blipFill>
          <a:blip r:embed="rId4"/>
          <a:stretch>
            <a:fillRect/>
          </a:stretch>
        </p:blipFill>
        <p:spPr>
          <a:xfrm>
            <a:off x="892566" y="3703320"/>
            <a:ext cx="4798547" cy="2377440"/>
          </a:xfrm>
          <a:prstGeom prst="rect">
            <a:avLst/>
          </a:prstGeom>
        </p:spPr>
      </p:pic>
      <p:pic>
        <p:nvPicPr>
          <p:cNvPr id="12" name="Picture 11" descr="ml_52.png"/>
          <p:cNvPicPr>
            <a:picLocks noChangeAspect="1"/>
          </p:cNvPicPr>
          <p:nvPr/>
        </p:nvPicPr>
        <p:blipFill>
          <a:blip r:embed="rId5"/>
          <a:stretch>
            <a:fillRect/>
          </a:stretch>
        </p:blipFill>
        <p:spPr>
          <a:xfrm>
            <a:off x="6742825" y="3703320"/>
            <a:ext cx="4345150" cy="2377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2EDE2F-0A4D-F884-2255-11E55CCB47CD}"/>
              </a:ext>
            </a:extLst>
          </p:cNvPr>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FF2B5EF4-FFF2-40B4-BE49-F238E27FC236}">
                <a16:creationId xmlns:a16="http://schemas.microsoft.com/office/drawing/2014/main" id="{1DD92066-ED2D-B4D8-3431-6457EBF208E0}"/>
              </a:ext>
            </a:extLst>
          </p:cNvPr>
          <p:cNvPicPr>
            <a:picLocks noChangeAspect="1"/>
          </p:cNvPicPr>
          <p:nvPr/>
        </p:nvPicPr>
        <p:blipFill>
          <a:blip r:embed="rId2"/>
          <a:stretch>
            <a:fillRect/>
          </a:stretch>
        </p:blipFill>
        <p:spPr>
          <a:xfrm>
            <a:off x="1" y="540774"/>
            <a:ext cx="6317220" cy="3925534"/>
          </a:xfrm>
          <a:prstGeom prst="rect">
            <a:avLst/>
          </a:prstGeom>
        </p:spPr>
      </p:pic>
      <p:pic>
        <p:nvPicPr>
          <p:cNvPr id="11" name="Picture 10">
            <a:extLst>
              <a:ext uri="{FF2B5EF4-FFF2-40B4-BE49-F238E27FC236}">
                <a16:creationId xmlns:a16="http://schemas.microsoft.com/office/drawing/2014/main" id="{21D22585-4ACF-CDF8-5FD9-BBF3884FAB69}"/>
              </a:ext>
            </a:extLst>
          </p:cNvPr>
          <p:cNvPicPr>
            <a:picLocks noChangeAspect="1"/>
          </p:cNvPicPr>
          <p:nvPr/>
        </p:nvPicPr>
        <p:blipFill>
          <a:blip r:embed="rId3"/>
          <a:stretch>
            <a:fillRect/>
          </a:stretch>
        </p:blipFill>
        <p:spPr>
          <a:xfrm>
            <a:off x="6317219" y="2585883"/>
            <a:ext cx="5874476" cy="4043521"/>
          </a:xfrm>
          <a:prstGeom prst="rect">
            <a:avLst/>
          </a:prstGeom>
        </p:spPr>
      </p:pic>
    </p:spTree>
    <p:extLst>
      <p:ext uri="{BB962C8B-B14F-4D97-AF65-F5344CB8AC3E}">
        <p14:creationId xmlns:p14="http://schemas.microsoft.com/office/powerpoint/2010/main" val="1714364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6. Key EDA Insights</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Patterns observed in the actual analysis</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7</a:t>
            </a:r>
          </a:p>
        </p:txBody>
      </p:sp>
      <p:sp>
        <p:nvSpPr>
          <p:cNvPr id="9" name="Rounded Rectangle 8"/>
          <p:cNvSpPr/>
          <p:nvPr/>
        </p:nvSpPr>
        <p:spPr>
          <a:xfrm>
            <a:off x="594360" y="1188720"/>
            <a:ext cx="3474720" cy="2011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188720"/>
            <a:ext cx="64008" cy="201168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1325880"/>
            <a:ext cx="3108960" cy="320040"/>
          </a:xfrm>
          <a:prstGeom prst="rect">
            <a:avLst/>
          </a:prstGeom>
          <a:noFill/>
        </p:spPr>
        <p:txBody>
          <a:bodyPr wrap="none">
            <a:spAutoFit/>
          </a:bodyPr>
          <a:lstStyle/>
          <a:p>
            <a:pPr>
              <a:defRPr sz="1500" b="1">
                <a:solidFill>
                  <a:srgbClr val="2D63BE"/>
                </a:solidFill>
              </a:defRPr>
            </a:pPr>
            <a:r>
              <a:t>Hourly pattern</a:t>
            </a:r>
          </a:p>
        </p:txBody>
      </p:sp>
      <p:sp>
        <p:nvSpPr>
          <p:cNvPr id="12" name="TextBox 11"/>
          <p:cNvSpPr txBox="1"/>
          <p:nvPr/>
        </p:nvSpPr>
        <p:spPr>
          <a:xfrm>
            <a:off x="795528" y="1719072"/>
            <a:ext cx="3108960" cy="1353312"/>
          </a:xfrm>
          <a:prstGeom prst="rect">
            <a:avLst/>
          </a:prstGeom>
          <a:noFill/>
        </p:spPr>
        <p:txBody>
          <a:bodyPr wrap="square">
            <a:spAutoFit/>
          </a:bodyPr>
          <a:lstStyle/>
          <a:p>
            <a:pPr>
              <a:defRPr sz="1150">
                <a:solidFill>
                  <a:srgbClr val="232A34"/>
                </a:solidFill>
              </a:defRPr>
            </a:pPr>
            <a:r>
              <a:t>Traffic rises sharply after early morning hours and reaches its strongest level around the afternoon/evening commute period.</a:t>
            </a:r>
          </a:p>
        </p:txBody>
      </p:sp>
      <p:sp>
        <p:nvSpPr>
          <p:cNvPr id="13" name="Rounded Rectangle 12"/>
          <p:cNvSpPr/>
          <p:nvPr/>
        </p:nvSpPr>
        <p:spPr>
          <a:xfrm>
            <a:off x="4343400" y="1188720"/>
            <a:ext cx="3474720" cy="2011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43400" y="1188720"/>
            <a:ext cx="64008" cy="20116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44568" y="1325880"/>
            <a:ext cx="3108960" cy="320040"/>
          </a:xfrm>
          <a:prstGeom prst="rect">
            <a:avLst/>
          </a:prstGeom>
          <a:noFill/>
        </p:spPr>
        <p:txBody>
          <a:bodyPr wrap="none">
            <a:spAutoFit/>
          </a:bodyPr>
          <a:lstStyle/>
          <a:p>
            <a:pPr>
              <a:defRPr sz="1500" b="1">
                <a:solidFill>
                  <a:srgbClr val="34824B"/>
                </a:solidFill>
              </a:defRPr>
            </a:pPr>
            <a:r>
              <a:t>Day-of-week pattern</a:t>
            </a:r>
          </a:p>
        </p:txBody>
      </p:sp>
      <p:sp>
        <p:nvSpPr>
          <p:cNvPr id="16" name="TextBox 15"/>
          <p:cNvSpPr txBox="1"/>
          <p:nvPr/>
        </p:nvSpPr>
        <p:spPr>
          <a:xfrm>
            <a:off x="4544568" y="1719072"/>
            <a:ext cx="3108960" cy="1353312"/>
          </a:xfrm>
          <a:prstGeom prst="rect">
            <a:avLst/>
          </a:prstGeom>
          <a:noFill/>
        </p:spPr>
        <p:txBody>
          <a:bodyPr wrap="square">
            <a:spAutoFit/>
          </a:bodyPr>
          <a:lstStyle/>
          <a:p>
            <a:pPr>
              <a:defRPr sz="1150">
                <a:solidFill>
                  <a:srgbClr val="232A34"/>
                </a:solidFill>
              </a:defRPr>
            </a:pPr>
            <a:r>
              <a:t>Weekdays show substantially higher average traffic than weekends, with Friday among the highest weekday averages.</a:t>
            </a:r>
          </a:p>
        </p:txBody>
      </p:sp>
      <p:sp>
        <p:nvSpPr>
          <p:cNvPr id="17" name="Rounded Rectangle 16"/>
          <p:cNvSpPr/>
          <p:nvPr/>
        </p:nvSpPr>
        <p:spPr>
          <a:xfrm>
            <a:off x="8092440" y="1188720"/>
            <a:ext cx="3474720" cy="2011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188720"/>
            <a:ext cx="64008" cy="201168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93608" y="1325880"/>
            <a:ext cx="3108960" cy="320040"/>
          </a:xfrm>
          <a:prstGeom prst="rect">
            <a:avLst/>
          </a:prstGeom>
          <a:noFill/>
        </p:spPr>
        <p:txBody>
          <a:bodyPr wrap="none">
            <a:spAutoFit/>
          </a:bodyPr>
          <a:lstStyle/>
          <a:p>
            <a:pPr>
              <a:defRPr sz="1500" b="1">
                <a:solidFill>
                  <a:srgbClr val="DC782D"/>
                </a:solidFill>
              </a:defRPr>
            </a:pPr>
            <a:r>
              <a:t>Weather &amp; temperature</a:t>
            </a:r>
          </a:p>
        </p:txBody>
      </p:sp>
      <p:sp>
        <p:nvSpPr>
          <p:cNvPr id="20" name="TextBox 19"/>
          <p:cNvSpPr txBox="1"/>
          <p:nvPr/>
        </p:nvSpPr>
        <p:spPr>
          <a:xfrm>
            <a:off x="8293608" y="1719072"/>
            <a:ext cx="3108960" cy="1353312"/>
          </a:xfrm>
          <a:prstGeom prst="rect">
            <a:avLst/>
          </a:prstGeom>
          <a:noFill/>
        </p:spPr>
        <p:txBody>
          <a:bodyPr wrap="square">
            <a:spAutoFit/>
          </a:bodyPr>
          <a:lstStyle/>
          <a:p>
            <a:pPr>
              <a:defRPr sz="1150">
                <a:solidFill>
                  <a:srgbClr val="232A34"/>
                </a:solidFill>
              </a:defRPr>
            </a:pPr>
            <a:r>
              <a:t>Weather categories and temperature were examined to understand associations with traffic volume; relationships should not be interpreted as direct causation.</a:t>
            </a:r>
          </a:p>
        </p:txBody>
      </p:sp>
      <p:pic>
        <p:nvPicPr>
          <p:cNvPr id="21" name="Picture 20" descr="Average Traffic Volume by Hour.png"/>
          <p:cNvPicPr>
            <a:picLocks noChangeAspect="1"/>
          </p:cNvPicPr>
          <p:nvPr/>
        </p:nvPicPr>
        <p:blipFill>
          <a:blip r:embed="rId2"/>
          <a:stretch>
            <a:fillRect/>
          </a:stretch>
        </p:blipFill>
        <p:spPr>
          <a:xfrm>
            <a:off x="891540" y="3566160"/>
            <a:ext cx="4846320" cy="2423160"/>
          </a:xfrm>
          <a:prstGeom prst="rect">
            <a:avLst/>
          </a:prstGeom>
        </p:spPr>
      </p:pic>
      <p:pic>
        <p:nvPicPr>
          <p:cNvPr id="22" name="Picture 21" descr="Average Traffic Volume by Day of Week.png"/>
          <p:cNvPicPr>
            <a:picLocks noChangeAspect="1"/>
          </p:cNvPicPr>
          <p:nvPr/>
        </p:nvPicPr>
        <p:blipFill>
          <a:blip r:embed="rId3"/>
          <a:stretch>
            <a:fillRect/>
          </a:stretch>
        </p:blipFill>
        <p:spPr>
          <a:xfrm>
            <a:off x="6469380" y="3566160"/>
            <a:ext cx="4846320" cy="2423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40EB23C-6101-3B07-076A-97AB1B013282}"/>
              </a:ext>
            </a:extLst>
          </p:cNvPr>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a:extLst>
              <a:ext uri="{FF2B5EF4-FFF2-40B4-BE49-F238E27FC236}">
                <a16:creationId xmlns:a16="http://schemas.microsoft.com/office/drawing/2014/main" id="{66427A2C-2D92-F014-1192-056C699E05DF}"/>
              </a:ext>
            </a:extLst>
          </p:cNvPr>
          <p:cNvPicPr>
            <a:picLocks noChangeAspect="1"/>
          </p:cNvPicPr>
          <p:nvPr/>
        </p:nvPicPr>
        <p:blipFill>
          <a:blip r:embed="rId2"/>
          <a:stretch>
            <a:fillRect/>
          </a:stretch>
        </p:blipFill>
        <p:spPr>
          <a:xfrm>
            <a:off x="421557" y="334297"/>
            <a:ext cx="11662287" cy="6189406"/>
          </a:xfrm>
          <a:prstGeom prst="rect">
            <a:avLst/>
          </a:prstGeom>
        </p:spPr>
      </p:pic>
    </p:spTree>
    <p:extLst>
      <p:ext uri="{BB962C8B-B14F-4D97-AF65-F5344CB8AC3E}">
        <p14:creationId xmlns:p14="http://schemas.microsoft.com/office/powerpoint/2010/main" val="1413209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7. Machine Learning Methodology</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Regression models trained on engineered temporal, weather and holiday features</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8</a:t>
            </a:r>
          </a:p>
        </p:txBody>
      </p:sp>
      <p:sp>
        <p:nvSpPr>
          <p:cNvPr id="9" name="Rounded Rectangle 8"/>
          <p:cNvSpPr/>
          <p:nvPr/>
        </p:nvSpPr>
        <p:spPr>
          <a:xfrm>
            <a:off x="594360" y="1234440"/>
            <a:ext cx="3429000" cy="15544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34440"/>
            <a:ext cx="64008" cy="155448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1371600"/>
            <a:ext cx="3063240" cy="320040"/>
          </a:xfrm>
          <a:prstGeom prst="rect">
            <a:avLst/>
          </a:prstGeom>
          <a:noFill/>
        </p:spPr>
        <p:txBody>
          <a:bodyPr wrap="none">
            <a:spAutoFit/>
          </a:bodyPr>
          <a:lstStyle/>
          <a:p>
            <a:pPr>
              <a:defRPr sz="1500" b="1">
                <a:solidFill>
                  <a:srgbClr val="2D63BE"/>
                </a:solidFill>
              </a:defRPr>
            </a:pPr>
            <a:r>
              <a:t>Linear Regression</a:t>
            </a:r>
          </a:p>
        </p:txBody>
      </p:sp>
      <p:sp>
        <p:nvSpPr>
          <p:cNvPr id="12" name="TextBox 11"/>
          <p:cNvSpPr txBox="1"/>
          <p:nvPr/>
        </p:nvSpPr>
        <p:spPr>
          <a:xfrm>
            <a:off x="795528" y="1764792"/>
            <a:ext cx="3063240" cy="896112"/>
          </a:xfrm>
          <a:prstGeom prst="rect">
            <a:avLst/>
          </a:prstGeom>
          <a:noFill/>
        </p:spPr>
        <p:txBody>
          <a:bodyPr wrap="square">
            <a:spAutoFit/>
          </a:bodyPr>
          <a:lstStyle/>
          <a:p>
            <a:pPr>
              <a:defRPr sz="1150">
                <a:solidFill>
                  <a:srgbClr val="232A34"/>
                </a:solidFill>
              </a:defRPr>
            </a:pPr>
            <a:r>
              <a:t>Baseline linear model</a:t>
            </a:r>
          </a:p>
        </p:txBody>
      </p:sp>
      <p:sp>
        <p:nvSpPr>
          <p:cNvPr id="13" name="Rounded Rectangle 12"/>
          <p:cNvSpPr/>
          <p:nvPr/>
        </p:nvSpPr>
        <p:spPr>
          <a:xfrm>
            <a:off x="4343400" y="1234440"/>
            <a:ext cx="3429000" cy="15544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43400" y="1234440"/>
            <a:ext cx="64008" cy="15544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44568" y="1371600"/>
            <a:ext cx="3063240" cy="320040"/>
          </a:xfrm>
          <a:prstGeom prst="rect">
            <a:avLst/>
          </a:prstGeom>
          <a:noFill/>
        </p:spPr>
        <p:txBody>
          <a:bodyPr wrap="none">
            <a:spAutoFit/>
          </a:bodyPr>
          <a:lstStyle/>
          <a:p>
            <a:pPr>
              <a:defRPr sz="1500" b="1">
                <a:solidFill>
                  <a:srgbClr val="34824B"/>
                </a:solidFill>
              </a:defRPr>
            </a:pPr>
            <a:r>
              <a:t>Random Forest</a:t>
            </a:r>
          </a:p>
        </p:txBody>
      </p:sp>
      <p:sp>
        <p:nvSpPr>
          <p:cNvPr id="16" name="TextBox 15"/>
          <p:cNvSpPr txBox="1"/>
          <p:nvPr/>
        </p:nvSpPr>
        <p:spPr>
          <a:xfrm>
            <a:off x="4544568" y="1764792"/>
            <a:ext cx="3063240" cy="896112"/>
          </a:xfrm>
          <a:prstGeom prst="rect">
            <a:avLst/>
          </a:prstGeom>
          <a:noFill/>
        </p:spPr>
        <p:txBody>
          <a:bodyPr wrap="square">
            <a:spAutoFit/>
          </a:bodyPr>
          <a:lstStyle/>
          <a:p>
            <a:pPr>
              <a:defRPr sz="1150">
                <a:solidFill>
                  <a:srgbClr val="232A34"/>
                </a:solidFill>
              </a:defRPr>
            </a:pPr>
            <a:r>
              <a:t>Ensemble of decision trees</a:t>
            </a:r>
          </a:p>
        </p:txBody>
      </p:sp>
      <p:sp>
        <p:nvSpPr>
          <p:cNvPr id="17" name="Rounded Rectangle 16"/>
          <p:cNvSpPr/>
          <p:nvPr/>
        </p:nvSpPr>
        <p:spPr>
          <a:xfrm>
            <a:off x="8092440" y="1234440"/>
            <a:ext cx="3429000" cy="15544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234440"/>
            <a:ext cx="64008" cy="155448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93608" y="1371600"/>
            <a:ext cx="3063240" cy="320040"/>
          </a:xfrm>
          <a:prstGeom prst="rect">
            <a:avLst/>
          </a:prstGeom>
          <a:noFill/>
        </p:spPr>
        <p:txBody>
          <a:bodyPr wrap="none">
            <a:spAutoFit/>
          </a:bodyPr>
          <a:lstStyle/>
          <a:p>
            <a:pPr>
              <a:defRPr sz="1500" b="1">
                <a:solidFill>
                  <a:srgbClr val="DC782D"/>
                </a:solidFill>
              </a:defRPr>
            </a:pPr>
            <a:r>
              <a:t>XGBoost</a:t>
            </a:r>
          </a:p>
        </p:txBody>
      </p:sp>
      <p:sp>
        <p:nvSpPr>
          <p:cNvPr id="20" name="TextBox 19"/>
          <p:cNvSpPr txBox="1"/>
          <p:nvPr/>
        </p:nvSpPr>
        <p:spPr>
          <a:xfrm>
            <a:off x="8293608" y="1764792"/>
            <a:ext cx="3063240" cy="896112"/>
          </a:xfrm>
          <a:prstGeom prst="rect">
            <a:avLst/>
          </a:prstGeom>
          <a:noFill/>
        </p:spPr>
        <p:txBody>
          <a:bodyPr wrap="square">
            <a:spAutoFit/>
          </a:bodyPr>
          <a:lstStyle/>
          <a:p>
            <a:pPr>
              <a:defRPr sz="1150">
                <a:solidFill>
                  <a:srgbClr val="232A34"/>
                </a:solidFill>
              </a:defRPr>
            </a:pPr>
            <a:r>
              <a:t>Gradient-boosted trees</a:t>
            </a:r>
          </a:p>
        </p:txBody>
      </p:sp>
      <p:sp>
        <p:nvSpPr>
          <p:cNvPr id="21" name="Rounded Rectangle 20"/>
          <p:cNvSpPr/>
          <p:nvPr/>
        </p:nvSpPr>
        <p:spPr>
          <a:xfrm>
            <a:off x="594360" y="3154680"/>
            <a:ext cx="3429000" cy="15544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94360" y="3154680"/>
            <a:ext cx="64008" cy="155448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5528" y="3291840"/>
            <a:ext cx="3063240" cy="320040"/>
          </a:xfrm>
          <a:prstGeom prst="rect">
            <a:avLst/>
          </a:prstGeom>
          <a:noFill/>
        </p:spPr>
        <p:txBody>
          <a:bodyPr wrap="none">
            <a:spAutoFit/>
          </a:bodyPr>
          <a:lstStyle/>
          <a:p>
            <a:pPr>
              <a:defRPr sz="1500" b="1">
                <a:solidFill>
                  <a:srgbClr val="734BA5"/>
                </a:solidFill>
              </a:defRPr>
            </a:pPr>
            <a:r>
              <a:t>LightGBM</a:t>
            </a:r>
          </a:p>
        </p:txBody>
      </p:sp>
      <p:sp>
        <p:nvSpPr>
          <p:cNvPr id="24" name="TextBox 23"/>
          <p:cNvSpPr txBox="1"/>
          <p:nvPr/>
        </p:nvSpPr>
        <p:spPr>
          <a:xfrm>
            <a:off x="795528" y="3685032"/>
            <a:ext cx="3063240" cy="896112"/>
          </a:xfrm>
          <a:prstGeom prst="rect">
            <a:avLst/>
          </a:prstGeom>
          <a:noFill/>
        </p:spPr>
        <p:txBody>
          <a:bodyPr wrap="square">
            <a:spAutoFit/>
          </a:bodyPr>
          <a:lstStyle/>
          <a:p>
            <a:pPr>
              <a:defRPr sz="1150">
                <a:solidFill>
                  <a:srgbClr val="232A34"/>
                </a:solidFill>
              </a:defRPr>
            </a:pPr>
            <a:r>
              <a:t>Efficient gradient boosting</a:t>
            </a:r>
          </a:p>
        </p:txBody>
      </p:sp>
      <p:sp>
        <p:nvSpPr>
          <p:cNvPr id="25" name="Rounded Rectangle 24"/>
          <p:cNvSpPr/>
          <p:nvPr/>
        </p:nvSpPr>
        <p:spPr>
          <a:xfrm>
            <a:off x="4343400" y="3154680"/>
            <a:ext cx="3429000" cy="15544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43400" y="3154680"/>
            <a:ext cx="64008" cy="1554480"/>
          </a:xfrm>
          <a:prstGeom prst="rect">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44568" y="3291840"/>
            <a:ext cx="3063240" cy="320040"/>
          </a:xfrm>
          <a:prstGeom prst="rect">
            <a:avLst/>
          </a:prstGeom>
          <a:noFill/>
        </p:spPr>
        <p:txBody>
          <a:bodyPr wrap="none">
            <a:spAutoFit/>
          </a:bodyPr>
          <a:lstStyle/>
          <a:p>
            <a:pPr>
              <a:defRPr sz="1500" b="1">
                <a:solidFill>
                  <a:srgbClr val="349AB4"/>
                </a:solidFill>
              </a:defRPr>
            </a:pPr>
            <a:r>
              <a:t>CatBoost</a:t>
            </a:r>
          </a:p>
        </p:txBody>
      </p:sp>
      <p:sp>
        <p:nvSpPr>
          <p:cNvPr id="28" name="TextBox 27"/>
          <p:cNvSpPr txBox="1"/>
          <p:nvPr/>
        </p:nvSpPr>
        <p:spPr>
          <a:xfrm>
            <a:off x="4544568" y="3685032"/>
            <a:ext cx="3063240" cy="896112"/>
          </a:xfrm>
          <a:prstGeom prst="rect">
            <a:avLst/>
          </a:prstGeom>
          <a:noFill/>
        </p:spPr>
        <p:txBody>
          <a:bodyPr wrap="square">
            <a:spAutoFit/>
          </a:bodyPr>
          <a:lstStyle/>
          <a:p>
            <a:pPr>
              <a:defRPr sz="1150">
                <a:solidFill>
                  <a:srgbClr val="232A34"/>
                </a:solidFill>
              </a:defRPr>
            </a:pPr>
            <a:r>
              <a:t>Boosting with categorical handling</a:t>
            </a:r>
          </a:p>
        </p:txBody>
      </p:sp>
      <p:sp>
        <p:nvSpPr>
          <p:cNvPr id="29" name="Rounded Rectangle 28"/>
          <p:cNvSpPr/>
          <p:nvPr/>
        </p:nvSpPr>
        <p:spPr>
          <a:xfrm>
            <a:off x="594360" y="5212080"/>
            <a:ext cx="10972800" cy="7315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94360" y="5212080"/>
            <a:ext cx="64008" cy="73152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5528" y="5349240"/>
            <a:ext cx="10607040" cy="320040"/>
          </a:xfrm>
          <a:prstGeom prst="rect">
            <a:avLst/>
          </a:prstGeom>
          <a:noFill/>
        </p:spPr>
        <p:txBody>
          <a:bodyPr wrap="none">
            <a:spAutoFit/>
          </a:bodyPr>
          <a:lstStyle/>
          <a:p>
            <a:pPr>
              <a:defRPr sz="1500" b="1">
                <a:solidFill>
                  <a:srgbClr val="143769"/>
                </a:solidFill>
              </a:defRPr>
            </a:pPr>
            <a:r>
              <a:t>Evaluation metrics</a:t>
            </a:r>
          </a:p>
        </p:txBody>
      </p:sp>
      <p:sp>
        <p:nvSpPr>
          <p:cNvPr id="32" name="TextBox 31"/>
          <p:cNvSpPr txBox="1"/>
          <p:nvPr/>
        </p:nvSpPr>
        <p:spPr>
          <a:xfrm>
            <a:off x="795528" y="5742432"/>
            <a:ext cx="10607040" cy="73152"/>
          </a:xfrm>
          <a:prstGeom prst="rect">
            <a:avLst/>
          </a:prstGeom>
          <a:noFill/>
        </p:spPr>
        <p:txBody>
          <a:bodyPr wrap="square">
            <a:spAutoFit/>
          </a:bodyPr>
          <a:lstStyle/>
          <a:p>
            <a:pPr>
              <a:defRPr sz="1150">
                <a:solidFill>
                  <a:srgbClr val="232A34"/>
                </a:solidFill>
              </a:defRPr>
            </a:pPr>
            <a:r>
              <a:t>MAE • MSE • RMSE • R² — lower error is better; higher R² is better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8. ML Model Comparison</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Exact test-set results from the final ML notebook</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9</a:t>
            </a:r>
          </a:p>
        </p:txBody>
      </p:sp>
      <p:graphicFrame>
        <p:nvGraphicFramePr>
          <p:cNvPr id="9" name="Table 8"/>
          <p:cNvGraphicFramePr>
            <a:graphicFrameLocks noGrp="1"/>
          </p:cNvGraphicFramePr>
          <p:nvPr/>
        </p:nvGraphicFramePr>
        <p:xfrm>
          <a:off x="594360" y="1234440"/>
          <a:ext cx="5303520" cy="42976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716280">
                <a:tc>
                  <a:txBody>
                    <a:bodyPr/>
                    <a:lstStyle/>
                    <a:p>
                      <a:pPr algn="ctr">
                        <a:defRPr sz="1300" b="1">
                          <a:solidFill>
                            <a:srgbClr val="FFFFFF"/>
                          </a:solidFill>
                          <a:latin typeface="Aptos"/>
                        </a:defRPr>
                      </a:pPr>
                      <a:r>
                        <a:t>Model</a:t>
                      </a:r>
                    </a:p>
                  </a:txBody>
                  <a:tcPr marL="54864" marR="36576" marT="36576" marB="27432">
                    <a:solidFill>
                      <a:srgbClr val="143769"/>
                    </a:solidFill>
                  </a:tcPr>
                </a:tc>
                <a:tc>
                  <a:txBody>
                    <a:bodyPr/>
                    <a:lstStyle/>
                    <a:p>
                      <a:pPr algn="ctr">
                        <a:defRPr sz="1300" b="1">
                          <a:solidFill>
                            <a:srgbClr val="FFFFFF"/>
                          </a:solidFill>
                          <a:latin typeface="Aptos"/>
                        </a:defRPr>
                      </a:pPr>
                      <a:r>
                        <a:t>MAE</a:t>
                      </a:r>
                    </a:p>
                  </a:txBody>
                  <a:tcPr marL="54864" marR="36576" marT="36576" marB="27432">
                    <a:solidFill>
                      <a:srgbClr val="143769"/>
                    </a:solidFill>
                  </a:tcPr>
                </a:tc>
                <a:tc>
                  <a:txBody>
                    <a:bodyPr/>
                    <a:lstStyle/>
                    <a:p>
                      <a:pPr algn="ctr">
                        <a:defRPr sz="1300" b="1">
                          <a:solidFill>
                            <a:srgbClr val="FFFFFF"/>
                          </a:solidFill>
                          <a:latin typeface="Aptos"/>
                        </a:defRPr>
                      </a:pPr>
                      <a:r>
                        <a:t>RMSE</a:t>
                      </a:r>
                    </a:p>
                  </a:txBody>
                  <a:tcPr marL="54864" marR="36576" marT="36576" marB="27432">
                    <a:solidFill>
                      <a:srgbClr val="143769"/>
                    </a:solidFill>
                  </a:tcPr>
                </a:tc>
                <a:tc>
                  <a:txBody>
                    <a:bodyPr/>
                    <a:lstStyle/>
                    <a:p>
                      <a:pPr algn="ctr">
                        <a:defRPr sz="1300" b="1">
                          <a:solidFill>
                            <a:srgbClr val="FFFFFF"/>
                          </a:solidFill>
                          <a:latin typeface="Aptos"/>
                        </a:defRPr>
                      </a:pPr>
                      <a:r>
                        <a:t>R²</a:t>
                      </a:r>
                    </a:p>
                  </a:txBody>
                  <a:tcPr marL="54864" marR="36576" marT="36576" marB="27432">
                    <a:solidFill>
                      <a:srgbClr val="143769"/>
                    </a:solidFill>
                  </a:tcPr>
                </a:tc>
                <a:extLst>
                  <a:ext uri="{0D108BD9-81ED-4DB2-BD59-A6C34878D82A}">
                    <a16:rowId xmlns:a16="http://schemas.microsoft.com/office/drawing/2014/main" val="10000"/>
                  </a:ext>
                </a:extLst>
              </a:tr>
              <a:tr h="716280">
                <a:tc>
                  <a:txBody>
                    <a:bodyPr/>
                    <a:lstStyle/>
                    <a:p>
                      <a:pPr algn="ctr">
                        <a:defRPr sz="1300" b="0">
                          <a:solidFill>
                            <a:srgbClr val="232A34"/>
                          </a:solidFill>
                          <a:latin typeface="Aptos"/>
                        </a:defRPr>
                      </a:pPr>
                      <a:r>
                        <a:t>Linear Regression</a:t>
                      </a:r>
                    </a:p>
                  </a:txBody>
                  <a:tcPr marL="54864" marR="36576" marT="36576" marB="27432">
                    <a:solidFill>
                      <a:srgbClr val="F6F8FC"/>
                    </a:solidFill>
                  </a:tcPr>
                </a:tc>
                <a:tc>
                  <a:txBody>
                    <a:bodyPr/>
                    <a:lstStyle/>
                    <a:p>
                      <a:pPr algn="ctr">
                        <a:defRPr sz="1300" b="0">
                          <a:solidFill>
                            <a:srgbClr val="232A34"/>
                          </a:solidFill>
                          <a:latin typeface="Aptos"/>
                        </a:defRPr>
                      </a:pPr>
                      <a:r>
                        <a:t>1551.45</a:t>
                      </a:r>
                    </a:p>
                  </a:txBody>
                  <a:tcPr marL="54864" marR="36576" marT="36576" marB="27432">
                    <a:solidFill>
                      <a:srgbClr val="F6F8FC"/>
                    </a:solidFill>
                  </a:tcPr>
                </a:tc>
                <a:tc>
                  <a:txBody>
                    <a:bodyPr/>
                    <a:lstStyle/>
                    <a:p>
                      <a:pPr algn="ctr">
                        <a:defRPr sz="1300" b="0">
                          <a:solidFill>
                            <a:srgbClr val="232A34"/>
                          </a:solidFill>
                          <a:latin typeface="Aptos"/>
                        </a:defRPr>
                      </a:pPr>
                      <a:r>
                        <a:t>1766.93</a:t>
                      </a:r>
                    </a:p>
                  </a:txBody>
                  <a:tcPr marL="54864" marR="36576" marT="36576" marB="27432">
                    <a:solidFill>
                      <a:srgbClr val="F6F8FC"/>
                    </a:solidFill>
                  </a:tcPr>
                </a:tc>
                <a:tc>
                  <a:txBody>
                    <a:bodyPr/>
                    <a:lstStyle/>
                    <a:p>
                      <a:pPr algn="ctr">
                        <a:defRPr sz="1300" b="0">
                          <a:solidFill>
                            <a:srgbClr val="232A34"/>
                          </a:solidFill>
                          <a:latin typeface="Aptos"/>
                        </a:defRPr>
                      </a:pPr>
                      <a:r>
                        <a:t>0.1956</a:t>
                      </a:r>
                    </a:p>
                  </a:txBody>
                  <a:tcPr marL="54864" marR="36576" marT="36576" marB="27432">
                    <a:solidFill>
                      <a:srgbClr val="F6F8FC"/>
                    </a:solidFill>
                  </a:tcPr>
                </a:tc>
                <a:extLst>
                  <a:ext uri="{0D108BD9-81ED-4DB2-BD59-A6C34878D82A}">
                    <a16:rowId xmlns:a16="http://schemas.microsoft.com/office/drawing/2014/main" val="10001"/>
                  </a:ext>
                </a:extLst>
              </a:tr>
              <a:tr h="716280">
                <a:tc>
                  <a:txBody>
                    <a:bodyPr/>
                    <a:lstStyle/>
                    <a:p>
                      <a:pPr algn="ctr">
                        <a:defRPr sz="1300" b="0">
                          <a:solidFill>
                            <a:srgbClr val="232A34"/>
                          </a:solidFill>
                          <a:latin typeface="Aptos"/>
                        </a:defRPr>
                      </a:pPr>
                      <a:r>
                        <a:t>Random Forest</a:t>
                      </a:r>
                    </a:p>
                  </a:txBody>
                  <a:tcPr marL="54864" marR="36576" marT="36576" marB="27432">
                    <a:solidFill>
                      <a:srgbClr val="FFFFFF"/>
                    </a:solidFill>
                  </a:tcPr>
                </a:tc>
                <a:tc>
                  <a:txBody>
                    <a:bodyPr/>
                    <a:lstStyle/>
                    <a:p>
                      <a:pPr algn="ctr">
                        <a:defRPr sz="1300" b="0">
                          <a:solidFill>
                            <a:srgbClr val="232A34"/>
                          </a:solidFill>
                          <a:latin typeface="Aptos"/>
                        </a:defRPr>
                      </a:pPr>
                      <a:r>
                        <a:t>254.53</a:t>
                      </a:r>
                    </a:p>
                  </a:txBody>
                  <a:tcPr marL="54864" marR="36576" marT="36576" marB="27432">
                    <a:solidFill>
                      <a:srgbClr val="FFFFFF"/>
                    </a:solidFill>
                  </a:tcPr>
                </a:tc>
                <a:tc>
                  <a:txBody>
                    <a:bodyPr/>
                    <a:lstStyle/>
                    <a:p>
                      <a:pPr algn="ctr">
                        <a:defRPr sz="1300" b="0">
                          <a:solidFill>
                            <a:srgbClr val="232A34"/>
                          </a:solidFill>
                          <a:latin typeface="Aptos"/>
                        </a:defRPr>
                      </a:pPr>
                      <a:r>
                        <a:t>433.64</a:t>
                      </a:r>
                    </a:p>
                  </a:txBody>
                  <a:tcPr marL="54864" marR="36576" marT="36576" marB="27432">
                    <a:solidFill>
                      <a:srgbClr val="FFFFFF"/>
                    </a:solidFill>
                  </a:tcPr>
                </a:tc>
                <a:tc>
                  <a:txBody>
                    <a:bodyPr/>
                    <a:lstStyle/>
                    <a:p>
                      <a:pPr algn="ctr">
                        <a:defRPr sz="1300" b="0">
                          <a:solidFill>
                            <a:srgbClr val="232A34"/>
                          </a:solidFill>
                          <a:latin typeface="Aptos"/>
                        </a:defRPr>
                      </a:pPr>
                      <a:r>
                        <a:t>0.9516</a:t>
                      </a:r>
                    </a:p>
                  </a:txBody>
                  <a:tcPr marL="54864" marR="36576" marT="36576" marB="27432">
                    <a:solidFill>
                      <a:srgbClr val="FFFFFF"/>
                    </a:solidFill>
                  </a:tcPr>
                </a:tc>
                <a:extLst>
                  <a:ext uri="{0D108BD9-81ED-4DB2-BD59-A6C34878D82A}">
                    <a16:rowId xmlns:a16="http://schemas.microsoft.com/office/drawing/2014/main" val="10002"/>
                  </a:ext>
                </a:extLst>
              </a:tr>
              <a:tr h="716280">
                <a:tc>
                  <a:txBody>
                    <a:bodyPr/>
                    <a:lstStyle/>
                    <a:p>
                      <a:pPr algn="ctr">
                        <a:defRPr sz="1300" b="0">
                          <a:solidFill>
                            <a:srgbClr val="232A34"/>
                          </a:solidFill>
                          <a:latin typeface="Aptos"/>
                        </a:defRPr>
                      </a:pPr>
                      <a:r>
                        <a:t>XGBoost</a:t>
                      </a:r>
                    </a:p>
                  </a:txBody>
                  <a:tcPr marL="54864" marR="36576" marT="36576" marB="27432">
                    <a:solidFill>
                      <a:srgbClr val="F6F8FC"/>
                    </a:solidFill>
                  </a:tcPr>
                </a:tc>
                <a:tc>
                  <a:txBody>
                    <a:bodyPr/>
                    <a:lstStyle/>
                    <a:p>
                      <a:pPr algn="ctr">
                        <a:defRPr sz="1300" b="0">
                          <a:solidFill>
                            <a:srgbClr val="232A34"/>
                          </a:solidFill>
                          <a:latin typeface="Aptos"/>
                        </a:defRPr>
                      </a:pPr>
                      <a:r>
                        <a:t>246.70</a:t>
                      </a:r>
                    </a:p>
                  </a:txBody>
                  <a:tcPr marL="54864" marR="36576" marT="36576" marB="27432">
                    <a:solidFill>
                      <a:srgbClr val="F6F8FC"/>
                    </a:solidFill>
                  </a:tcPr>
                </a:tc>
                <a:tc>
                  <a:txBody>
                    <a:bodyPr/>
                    <a:lstStyle/>
                    <a:p>
                      <a:pPr algn="ctr">
                        <a:defRPr sz="1300" b="0">
                          <a:solidFill>
                            <a:srgbClr val="232A34"/>
                          </a:solidFill>
                          <a:latin typeface="Aptos"/>
                        </a:defRPr>
                      </a:pPr>
                      <a:r>
                        <a:t>408.00</a:t>
                      </a:r>
                    </a:p>
                  </a:txBody>
                  <a:tcPr marL="54864" marR="36576" marT="36576" marB="27432">
                    <a:solidFill>
                      <a:srgbClr val="F6F8FC"/>
                    </a:solidFill>
                  </a:tcPr>
                </a:tc>
                <a:tc>
                  <a:txBody>
                    <a:bodyPr/>
                    <a:lstStyle/>
                    <a:p>
                      <a:pPr algn="ctr">
                        <a:defRPr sz="1300" b="0">
                          <a:solidFill>
                            <a:srgbClr val="232A34"/>
                          </a:solidFill>
                          <a:latin typeface="Aptos"/>
                        </a:defRPr>
                      </a:pPr>
                      <a:r>
                        <a:t>0.9571</a:t>
                      </a:r>
                    </a:p>
                  </a:txBody>
                  <a:tcPr marL="54864" marR="36576" marT="36576" marB="27432">
                    <a:solidFill>
                      <a:srgbClr val="F6F8FC"/>
                    </a:solidFill>
                  </a:tcPr>
                </a:tc>
                <a:extLst>
                  <a:ext uri="{0D108BD9-81ED-4DB2-BD59-A6C34878D82A}">
                    <a16:rowId xmlns:a16="http://schemas.microsoft.com/office/drawing/2014/main" val="10003"/>
                  </a:ext>
                </a:extLst>
              </a:tr>
              <a:tr h="716280">
                <a:tc>
                  <a:txBody>
                    <a:bodyPr/>
                    <a:lstStyle/>
                    <a:p>
                      <a:pPr algn="ctr">
                        <a:defRPr sz="1300" b="0">
                          <a:solidFill>
                            <a:srgbClr val="232A34"/>
                          </a:solidFill>
                          <a:latin typeface="Aptos"/>
                        </a:defRPr>
                      </a:pPr>
                      <a:r>
                        <a:t>LightGBM</a:t>
                      </a:r>
                    </a:p>
                  </a:txBody>
                  <a:tcPr marL="54864" marR="36576" marT="36576" marB="27432">
                    <a:solidFill>
                      <a:srgbClr val="FFFFFF"/>
                    </a:solidFill>
                  </a:tcPr>
                </a:tc>
                <a:tc>
                  <a:txBody>
                    <a:bodyPr/>
                    <a:lstStyle/>
                    <a:p>
                      <a:pPr algn="ctr">
                        <a:defRPr sz="1300" b="0">
                          <a:solidFill>
                            <a:srgbClr val="232A34"/>
                          </a:solidFill>
                          <a:latin typeface="Aptos"/>
                        </a:defRPr>
                      </a:pPr>
                      <a:r>
                        <a:t>249.81</a:t>
                      </a:r>
                    </a:p>
                  </a:txBody>
                  <a:tcPr marL="54864" marR="36576" marT="36576" marB="27432">
                    <a:solidFill>
                      <a:srgbClr val="FFFFFF"/>
                    </a:solidFill>
                  </a:tcPr>
                </a:tc>
                <a:tc>
                  <a:txBody>
                    <a:bodyPr/>
                    <a:lstStyle/>
                    <a:p>
                      <a:pPr algn="ctr">
                        <a:defRPr sz="1300" b="0">
                          <a:solidFill>
                            <a:srgbClr val="232A34"/>
                          </a:solidFill>
                          <a:latin typeface="Aptos"/>
                        </a:defRPr>
                      </a:pPr>
                      <a:r>
                        <a:t>413.16</a:t>
                      </a:r>
                    </a:p>
                  </a:txBody>
                  <a:tcPr marL="54864" marR="36576" marT="36576" marB="27432">
                    <a:solidFill>
                      <a:srgbClr val="FFFFFF"/>
                    </a:solidFill>
                  </a:tcPr>
                </a:tc>
                <a:tc>
                  <a:txBody>
                    <a:bodyPr/>
                    <a:lstStyle/>
                    <a:p>
                      <a:pPr algn="ctr">
                        <a:defRPr sz="1300" b="0">
                          <a:solidFill>
                            <a:srgbClr val="232A34"/>
                          </a:solidFill>
                          <a:latin typeface="Aptos"/>
                        </a:defRPr>
                      </a:pPr>
                      <a:r>
                        <a:t>0.9560</a:t>
                      </a:r>
                    </a:p>
                  </a:txBody>
                  <a:tcPr marL="54864" marR="36576" marT="36576" marB="27432">
                    <a:solidFill>
                      <a:srgbClr val="FFFFFF"/>
                    </a:solidFill>
                  </a:tcPr>
                </a:tc>
                <a:extLst>
                  <a:ext uri="{0D108BD9-81ED-4DB2-BD59-A6C34878D82A}">
                    <a16:rowId xmlns:a16="http://schemas.microsoft.com/office/drawing/2014/main" val="10004"/>
                  </a:ext>
                </a:extLst>
              </a:tr>
              <a:tr h="716280">
                <a:tc>
                  <a:txBody>
                    <a:bodyPr/>
                    <a:lstStyle/>
                    <a:p>
                      <a:pPr algn="ctr">
                        <a:defRPr sz="1300" b="0">
                          <a:solidFill>
                            <a:srgbClr val="232A34"/>
                          </a:solidFill>
                          <a:latin typeface="Aptos"/>
                        </a:defRPr>
                      </a:pPr>
                      <a:r>
                        <a:t>CatBoost</a:t>
                      </a:r>
                    </a:p>
                  </a:txBody>
                  <a:tcPr marL="54864" marR="36576" marT="36576" marB="27432">
                    <a:solidFill>
                      <a:srgbClr val="F6F8FC"/>
                    </a:solidFill>
                  </a:tcPr>
                </a:tc>
                <a:tc>
                  <a:txBody>
                    <a:bodyPr/>
                    <a:lstStyle/>
                    <a:p>
                      <a:pPr algn="ctr">
                        <a:defRPr sz="1300" b="0">
                          <a:solidFill>
                            <a:srgbClr val="232A34"/>
                          </a:solidFill>
                          <a:latin typeface="Aptos"/>
                        </a:defRPr>
                      </a:pPr>
                      <a:r>
                        <a:t>247.70</a:t>
                      </a:r>
                    </a:p>
                  </a:txBody>
                  <a:tcPr marL="54864" marR="36576" marT="36576" marB="27432">
                    <a:solidFill>
                      <a:srgbClr val="F6F8FC"/>
                    </a:solidFill>
                  </a:tcPr>
                </a:tc>
                <a:tc>
                  <a:txBody>
                    <a:bodyPr/>
                    <a:lstStyle/>
                    <a:p>
                      <a:pPr algn="ctr">
                        <a:defRPr sz="1300" b="0">
                          <a:solidFill>
                            <a:srgbClr val="232A34"/>
                          </a:solidFill>
                          <a:latin typeface="Aptos"/>
                        </a:defRPr>
                      </a:pPr>
                      <a:r>
                        <a:t>419.96</a:t>
                      </a:r>
                    </a:p>
                  </a:txBody>
                  <a:tcPr marL="54864" marR="36576" marT="36576" marB="27432">
                    <a:solidFill>
                      <a:srgbClr val="F6F8FC"/>
                    </a:solidFill>
                  </a:tcPr>
                </a:tc>
                <a:tc>
                  <a:txBody>
                    <a:bodyPr/>
                    <a:lstStyle/>
                    <a:p>
                      <a:pPr algn="ctr">
                        <a:defRPr sz="1300" b="0">
                          <a:solidFill>
                            <a:srgbClr val="232A34"/>
                          </a:solidFill>
                          <a:latin typeface="Aptos"/>
                        </a:defRPr>
                      </a:pPr>
                      <a:r>
                        <a:t>0.9546</a:t>
                      </a:r>
                    </a:p>
                  </a:txBody>
                  <a:tcPr marL="54864" marR="36576" marT="36576" marB="27432">
                    <a:solidFill>
                      <a:srgbClr val="F6F8FC"/>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6720840" y="4696413"/>
            <a:ext cx="594360" cy="652826"/>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5422392"/>
            <a:ext cx="777240" cy="365760"/>
          </a:xfrm>
          <a:prstGeom prst="rect">
            <a:avLst/>
          </a:prstGeom>
          <a:noFill/>
        </p:spPr>
        <p:txBody>
          <a:bodyPr wrap="none">
            <a:spAutoFit/>
          </a:bodyPr>
          <a:lstStyle/>
          <a:p>
            <a:pPr algn="ctr">
              <a:defRPr sz="850">
                <a:solidFill>
                  <a:srgbClr val="232A34"/>
                </a:solidFill>
              </a:defRPr>
            </a:pPr>
            <a:r>
              <a:t>Linear</a:t>
            </a:r>
          </a:p>
        </p:txBody>
      </p:sp>
      <p:sp>
        <p:nvSpPr>
          <p:cNvPr id="12" name="TextBox 11"/>
          <p:cNvSpPr txBox="1"/>
          <p:nvPr/>
        </p:nvSpPr>
        <p:spPr>
          <a:xfrm>
            <a:off x="6629400" y="4376373"/>
            <a:ext cx="777240" cy="274320"/>
          </a:xfrm>
          <a:prstGeom prst="rect">
            <a:avLst/>
          </a:prstGeom>
          <a:noFill/>
        </p:spPr>
        <p:txBody>
          <a:bodyPr wrap="none">
            <a:spAutoFit/>
          </a:bodyPr>
          <a:lstStyle/>
          <a:p>
            <a:pPr algn="ctr">
              <a:defRPr sz="900" b="1">
                <a:solidFill>
                  <a:srgbClr val="232A34"/>
                </a:solidFill>
              </a:defRPr>
            </a:pPr>
            <a:r>
              <a:t>0.196</a:t>
            </a:r>
          </a:p>
        </p:txBody>
      </p:sp>
      <p:sp>
        <p:nvSpPr>
          <p:cNvPr id="13" name="Rectangle 12"/>
          <p:cNvSpPr/>
          <p:nvPr/>
        </p:nvSpPr>
        <p:spPr>
          <a:xfrm>
            <a:off x="7680960" y="2173217"/>
            <a:ext cx="594360" cy="3176022"/>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20" y="5422392"/>
            <a:ext cx="777240" cy="365760"/>
          </a:xfrm>
          <a:prstGeom prst="rect">
            <a:avLst/>
          </a:prstGeom>
          <a:noFill/>
        </p:spPr>
        <p:txBody>
          <a:bodyPr wrap="none">
            <a:spAutoFit/>
          </a:bodyPr>
          <a:lstStyle/>
          <a:p>
            <a:pPr algn="ctr">
              <a:defRPr sz="850">
                <a:solidFill>
                  <a:srgbClr val="232A34"/>
                </a:solidFill>
              </a:defRPr>
            </a:pPr>
            <a:r>
              <a:t>RF</a:t>
            </a:r>
          </a:p>
        </p:txBody>
      </p:sp>
      <p:sp>
        <p:nvSpPr>
          <p:cNvPr id="15" name="TextBox 14"/>
          <p:cNvSpPr txBox="1"/>
          <p:nvPr/>
        </p:nvSpPr>
        <p:spPr>
          <a:xfrm>
            <a:off x="7589520" y="1853177"/>
            <a:ext cx="777240" cy="274320"/>
          </a:xfrm>
          <a:prstGeom prst="rect">
            <a:avLst/>
          </a:prstGeom>
          <a:noFill/>
        </p:spPr>
        <p:txBody>
          <a:bodyPr wrap="none">
            <a:spAutoFit/>
          </a:bodyPr>
          <a:lstStyle/>
          <a:p>
            <a:pPr algn="ctr">
              <a:defRPr sz="900" b="1">
                <a:solidFill>
                  <a:srgbClr val="232A34"/>
                </a:solidFill>
              </a:defRPr>
            </a:pPr>
            <a:r>
              <a:t>0.952</a:t>
            </a:r>
          </a:p>
        </p:txBody>
      </p:sp>
      <p:sp>
        <p:nvSpPr>
          <p:cNvPr id="16" name="Rectangle 15"/>
          <p:cNvSpPr/>
          <p:nvPr/>
        </p:nvSpPr>
        <p:spPr>
          <a:xfrm>
            <a:off x="8641080" y="2154861"/>
            <a:ext cx="594360" cy="3194378"/>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49640" y="5422392"/>
            <a:ext cx="777240" cy="365760"/>
          </a:xfrm>
          <a:prstGeom prst="rect">
            <a:avLst/>
          </a:prstGeom>
          <a:noFill/>
        </p:spPr>
        <p:txBody>
          <a:bodyPr wrap="none">
            <a:spAutoFit/>
          </a:bodyPr>
          <a:lstStyle/>
          <a:p>
            <a:pPr algn="ctr">
              <a:defRPr sz="850">
                <a:solidFill>
                  <a:srgbClr val="232A34"/>
                </a:solidFill>
              </a:defRPr>
            </a:pPr>
            <a:r>
              <a:t>XGB</a:t>
            </a:r>
          </a:p>
        </p:txBody>
      </p:sp>
      <p:sp>
        <p:nvSpPr>
          <p:cNvPr id="18" name="TextBox 17"/>
          <p:cNvSpPr txBox="1"/>
          <p:nvPr/>
        </p:nvSpPr>
        <p:spPr>
          <a:xfrm>
            <a:off x="8549640" y="1834821"/>
            <a:ext cx="777240" cy="274320"/>
          </a:xfrm>
          <a:prstGeom prst="rect">
            <a:avLst/>
          </a:prstGeom>
          <a:noFill/>
        </p:spPr>
        <p:txBody>
          <a:bodyPr wrap="none">
            <a:spAutoFit/>
          </a:bodyPr>
          <a:lstStyle/>
          <a:p>
            <a:pPr algn="ctr">
              <a:defRPr sz="900" b="1">
                <a:solidFill>
                  <a:srgbClr val="232A34"/>
                </a:solidFill>
              </a:defRPr>
            </a:pPr>
            <a:r>
              <a:t>0.957</a:t>
            </a:r>
          </a:p>
        </p:txBody>
      </p:sp>
      <p:sp>
        <p:nvSpPr>
          <p:cNvPr id="19" name="Rectangle 18"/>
          <p:cNvSpPr/>
          <p:nvPr/>
        </p:nvSpPr>
        <p:spPr>
          <a:xfrm>
            <a:off x="9601200" y="2158532"/>
            <a:ext cx="594360" cy="3190707"/>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09760" y="5422392"/>
            <a:ext cx="777240" cy="365760"/>
          </a:xfrm>
          <a:prstGeom prst="rect">
            <a:avLst/>
          </a:prstGeom>
          <a:noFill/>
        </p:spPr>
        <p:txBody>
          <a:bodyPr wrap="none">
            <a:spAutoFit/>
          </a:bodyPr>
          <a:lstStyle/>
          <a:p>
            <a:pPr algn="ctr">
              <a:defRPr sz="850">
                <a:solidFill>
                  <a:srgbClr val="232A34"/>
                </a:solidFill>
              </a:defRPr>
            </a:pPr>
            <a:r>
              <a:t>LGBM</a:t>
            </a:r>
          </a:p>
        </p:txBody>
      </p:sp>
      <p:sp>
        <p:nvSpPr>
          <p:cNvPr id="21" name="TextBox 20"/>
          <p:cNvSpPr txBox="1"/>
          <p:nvPr/>
        </p:nvSpPr>
        <p:spPr>
          <a:xfrm>
            <a:off x="9509760" y="1838492"/>
            <a:ext cx="777240" cy="274320"/>
          </a:xfrm>
          <a:prstGeom prst="rect">
            <a:avLst/>
          </a:prstGeom>
          <a:noFill/>
        </p:spPr>
        <p:txBody>
          <a:bodyPr wrap="none">
            <a:spAutoFit/>
          </a:bodyPr>
          <a:lstStyle/>
          <a:p>
            <a:pPr algn="ctr">
              <a:defRPr sz="900" b="1">
                <a:solidFill>
                  <a:srgbClr val="232A34"/>
                </a:solidFill>
              </a:defRPr>
            </a:pPr>
            <a:r>
              <a:t>0.956</a:t>
            </a:r>
          </a:p>
        </p:txBody>
      </p:sp>
      <p:sp>
        <p:nvSpPr>
          <p:cNvPr id="22" name="Rectangle 21"/>
          <p:cNvSpPr/>
          <p:nvPr/>
        </p:nvSpPr>
        <p:spPr>
          <a:xfrm>
            <a:off x="10561320" y="2163205"/>
            <a:ext cx="594360" cy="3186034"/>
          </a:xfrm>
          <a:prstGeom prst="rect">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469880" y="5422392"/>
            <a:ext cx="777240" cy="365760"/>
          </a:xfrm>
          <a:prstGeom prst="rect">
            <a:avLst/>
          </a:prstGeom>
          <a:noFill/>
        </p:spPr>
        <p:txBody>
          <a:bodyPr wrap="none">
            <a:spAutoFit/>
          </a:bodyPr>
          <a:lstStyle/>
          <a:p>
            <a:pPr algn="ctr">
              <a:defRPr sz="850">
                <a:solidFill>
                  <a:srgbClr val="232A34"/>
                </a:solidFill>
              </a:defRPr>
            </a:pPr>
            <a:r>
              <a:t>CatBoost</a:t>
            </a:r>
          </a:p>
        </p:txBody>
      </p:sp>
      <p:sp>
        <p:nvSpPr>
          <p:cNvPr id="24" name="TextBox 23"/>
          <p:cNvSpPr txBox="1"/>
          <p:nvPr/>
        </p:nvSpPr>
        <p:spPr>
          <a:xfrm>
            <a:off x="10469880" y="1843165"/>
            <a:ext cx="777240" cy="274320"/>
          </a:xfrm>
          <a:prstGeom prst="rect">
            <a:avLst/>
          </a:prstGeom>
          <a:noFill/>
        </p:spPr>
        <p:txBody>
          <a:bodyPr wrap="none">
            <a:spAutoFit/>
          </a:bodyPr>
          <a:lstStyle/>
          <a:p>
            <a:pPr algn="ctr">
              <a:defRPr sz="900" b="1">
                <a:solidFill>
                  <a:srgbClr val="232A34"/>
                </a:solidFill>
              </a:defRPr>
            </a:pPr>
            <a:r>
              <a:t>0.955</a:t>
            </a:r>
          </a:p>
        </p:txBody>
      </p:sp>
      <p:sp>
        <p:nvSpPr>
          <p:cNvPr id="25" name="Rounded Rectangle 24"/>
          <p:cNvSpPr/>
          <p:nvPr/>
        </p:nvSpPr>
        <p:spPr>
          <a:xfrm>
            <a:off x="6629400" y="1234440"/>
            <a:ext cx="4892040" cy="11430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629400" y="1234440"/>
            <a:ext cx="64008" cy="114300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30568" y="1371600"/>
            <a:ext cx="4526279" cy="320040"/>
          </a:xfrm>
          <a:prstGeom prst="rect">
            <a:avLst/>
          </a:prstGeom>
          <a:noFill/>
        </p:spPr>
        <p:txBody>
          <a:bodyPr wrap="none">
            <a:spAutoFit/>
          </a:bodyPr>
          <a:lstStyle/>
          <a:p>
            <a:pPr>
              <a:defRPr sz="1500" b="1">
                <a:solidFill>
                  <a:srgbClr val="DC782D"/>
                </a:solidFill>
              </a:defRPr>
            </a:pPr>
            <a:r>
              <a:t>Best model: XGBoost</a:t>
            </a:r>
          </a:p>
        </p:txBody>
      </p:sp>
      <p:sp>
        <p:nvSpPr>
          <p:cNvPr id="28" name="TextBox 27"/>
          <p:cNvSpPr txBox="1"/>
          <p:nvPr/>
        </p:nvSpPr>
        <p:spPr>
          <a:xfrm>
            <a:off x="6830568" y="1764792"/>
            <a:ext cx="4526279" cy="484632"/>
          </a:xfrm>
          <a:prstGeom prst="rect">
            <a:avLst/>
          </a:prstGeom>
          <a:noFill/>
        </p:spPr>
        <p:txBody>
          <a:bodyPr wrap="square">
            <a:spAutoFit/>
          </a:bodyPr>
          <a:lstStyle/>
          <a:p>
            <a:pPr>
              <a:defRPr sz="1150">
                <a:solidFill>
                  <a:srgbClr val="232A34"/>
                </a:solidFill>
              </a:defRPr>
            </a:pPr>
            <a:r>
              <a:t>Lowest MAE, MSE and RMSE, with the highest R² = 0.9571.</a:t>
            </a:r>
          </a:p>
        </p:txBody>
      </p:sp>
      <p:sp>
        <p:nvSpPr>
          <p:cNvPr id="29" name="Rounded Rectangle 28"/>
          <p:cNvSpPr/>
          <p:nvPr/>
        </p:nvSpPr>
        <p:spPr>
          <a:xfrm>
            <a:off x="6629400" y="2606040"/>
            <a:ext cx="4892040" cy="10972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629400" y="2606040"/>
            <a:ext cx="64008" cy="10972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30568" y="2743200"/>
            <a:ext cx="4526279" cy="320040"/>
          </a:xfrm>
          <a:prstGeom prst="rect">
            <a:avLst/>
          </a:prstGeom>
          <a:noFill/>
        </p:spPr>
        <p:txBody>
          <a:bodyPr wrap="none">
            <a:spAutoFit/>
          </a:bodyPr>
          <a:lstStyle/>
          <a:p>
            <a:pPr>
              <a:defRPr sz="1500" b="1">
                <a:solidFill>
                  <a:srgbClr val="34824B"/>
                </a:solidFill>
              </a:defRPr>
            </a:pPr>
            <a:r>
              <a:t>Interpretation</a:t>
            </a:r>
          </a:p>
        </p:txBody>
      </p:sp>
      <p:sp>
        <p:nvSpPr>
          <p:cNvPr id="32" name="TextBox 31"/>
          <p:cNvSpPr txBox="1"/>
          <p:nvPr/>
        </p:nvSpPr>
        <p:spPr>
          <a:xfrm>
            <a:off x="6830568" y="3136392"/>
            <a:ext cx="4526279" cy="438912"/>
          </a:xfrm>
          <a:prstGeom prst="rect">
            <a:avLst/>
          </a:prstGeom>
          <a:noFill/>
        </p:spPr>
        <p:txBody>
          <a:bodyPr wrap="square">
            <a:spAutoFit/>
          </a:bodyPr>
          <a:lstStyle/>
          <a:p>
            <a:pPr>
              <a:defRPr sz="1150">
                <a:solidFill>
                  <a:srgbClr val="232A34"/>
                </a:solidFill>
              </a:defRPr>
            </a:pPr>
            <a:r>
              <a:t>Approximately 95.7% of the variance in test traffic volume is explained by the 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9. XGBoost Results &amp; Feature Importance</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The selected ML model for the prediction API</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10</a:t>
            </a:r>
          </a:p>
        </p:txBody>
      </p:sp>
      <p:pic>
        <p:nvPicPr>
          <p:cNvPr id="9" name="Picture 8" descr="ml_94.png"/>
          <p:cNvPicPr>
            <a:picLocks noChangeAspect="1"/>
          </p:cNvPicPr>
          <p:nvPr/>
        </p:nvPicPr>
        <p:blipFill>
          <a:blip r:embed="rId2"/>
          <a:stretch>
            <a:fillRect/>
          </a:stretch>
        </p:blipFill>
        <p:spPr>
          <a:xfrm>
            <a:off x="594360" y="1384097"/>
            <a:ext cx="5486400" cy="2261005"/>
          </a:xfrm>
          <a:prstGeom prst="rect">
            <a:avLst/>
          </a:prstGeom>
        </p:spPr>
      </p:pic>
      <p:pic>
        <p:nvPicPr>
          <p:cNvPr id="10" name="Picture 9" descr="ml_104.png"/>
          <p:cNvPicPr>
            <a:picLocks noChangeAspect="1"/>
          </p:cNvPicPr>
          <p:nvPr/>
        </p:nvPicPr>
        <p:blipFill>
          <a:blip r:embed="rId3"/>
          <a:stretch>
            <a:fillRect/>
          </a:stretch>
        </p:blipFill>
        <p:spPr>
          <a:xfrm>
            <a:off x="6462948" y="1234440"/>
            <a:ext cx="4904903" cy="2926080"/>
          </a:xfrm>
          <a:prstGeom prst="rect">
            <a:avLst/>
          </a:prstGeom>
        </p:spPr>
      </p:pic>
      <p:sp>
        <p:nvSpPr>
          <p:cNvPr id="11" name="Rounded Rectangle 10"/>
          <p:cNvSpPr/>
          <p:nvPr/>
        </p:nvSpPr>
        <p:spPr>
          <a:xfrm>
            <a:off x="685800" y="4160520"/>
            <a:ext cx="3337560" cy="11887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 y="4160520"/>
            <a:ext cx="64008" cy="118872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6968" y="4297680"/>
            <a:ext cx="2971800" cy="320040"/>
          </a:xfrm>
          <a:prstGeom prst="rect">
            <a:avLst/>
          </a:prstGeom>
          <a:noFill/>
        </p:spPr>
        <p:txBody>
          <a:bodyPr wrap="none">
            <a:spAutoFit/>
          </a:bodyPr>
          <a:lstStyle/>
          <a:p>
            <a:pPr>
              <a:defRPr sz="1500" b="1">
                <a:solidFill>
                  <a:srgbClr val="DC782D"/>
                </a:solidFill>
              </a:defRPr>
            </a:pPr>
            <a:r>
              <a:t>MAE</a:t>
            </a:r>
          </a:p>
        </p:txBody>
      </p:sp>
      <p:sp>
        <p:nvSpPr>
          <p:cNvPr id="14" name="TextBox 13"/>
          <p:cNvSpPr txBox="1"/>
          <p:nvPr/>
        </p:nvSpPr>
        <p:spPr>
          <a:xfrm>
            <a:off x="886968" y="4690872"/>
            <a:ext cx="2971800" cy="530352"/>
          </a:xfrm>
          <a:prstGeom prst="rect">
            <a:avLst/>
          </a:prstGeom>
          <a:noFill/>
        </p:spPr>
        <p:txBody>
          <a:bodyPr wrap="square">
            <a:spAutoFit/>
          </a:bodyPr>
          <a:lstStyle/>
          <a:p>
            <a:pPr>
              <a:defRPr sz="1150">
                <a:solidFill>
                  <a:srgbClr val="232A34"/>
                </a:solidFill>
              </a:defRPr>
            </a:pPr>
            <a:r>
              <a:t>246.70 vehicles/hour</a:t>
            </a:r>
          </a:p>
        </p:txBody>
      </p:sp>
      <p:sp>
        <p:nvSpPr>
          <p:cNvPr id="15" name="Rounded Rectangle 14"/>
          <p:cNvSpPr/>
          <p:nvPr/>
        </p:nvSpPr>
        <p:spPr>
          <a:xfrm>
            <a:off x="4297680" y="4160520"/>
            <a:ext cx="3337560" cy="11887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97680" y="4160520"/>
            <a:ext cx="64008" cy="118872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98848" y="4297680"/>
            <a:ext cx="2971800" cy="320040"/>
          </a:xfrm>
          <a:prstGeom prst="rect">
            <a:avLst/>
          </a:prstGeom>
          <a:noFill/>
        </p:spPr>
        <p:txBody>
          <a:bodyPr wrap="none">
            <a:spAutoFit/>
          </a:bodyPr>
          <a:lstStyle/>
          <a:p>
            <a:pPr>
              <a:defRPr sz="1500" b="1">
                <a:solidFill>
                  <a:srgbClr val="DC782D"/>
                </a:solidFill>
              </a:defRPr>
            </a:pPr>
            <a:r>
              <a:t>RMSE</a:t>
            </a:r>
          </a:p>
        </p:txBody>
      </p:sp>
      <p:sp>
        <p:nvSpPr>
          <p:cNvPr id="18" name="TextBox 17"/>
          <p:cNvSpPr txBox="1"/>
          <p:nvPr/>
        </p:nvSpPr>
        <p:spPr>
          <a:xfrm>
            <a:off x="4498848" y="4690872"/>
            <a:ext cx="2971800" cy="530352"/>
          </a:xfrm>
          <a:prstGeom prst="rect">
            <a:avLst/>
          </a:prstGeom>
          <a:noFill/>
        </p:spPr>
        <p:txBody>
          <a:bodyPr wrap="square">
            <a:spAutoFit/>
          </a:bodyPr>
          <a:lstStyle/>
          <a:p>
            <a:pPr>
              <a:defRPr sz="1150">
                <a:solidFill>
                  <a:srgbClr val="232A34"/>
                </a:solidFill>
              </a:defRPr>
            </a:pPr>
            <a:r>
              <a:t>408.00 vehicles/hour</a:t>
            </a:r>
          </a:p>
        </p:txBody>
      </p:sp>
      <p:sp>
        <p:nvSpPr>
          <p:cNvPr id="19" name="Rounded Rectangle 18"/>
          <p:cNvSpPr/>
          <p:nvPr/>
        </p:nvSpPr>
        <p:spPr>
          <a:xfrm>
            <a:off x="7909560" y="4160520"/>
            <a:ext cx="3337560" cy="11887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909560" y="4160520"/>
            <a:ext cx="64008" cy="118872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10728" y="4297680"/>
            <a:ext cx="2971800" cy="320040"/>
          </a:xfrm>
          <a:prstGeom prst="rect">
            <a:avLst/>
          </a:prstGeom>
          <a:noFill/>
        </p:spPr>
        <p:txBody>
          <a:bodyPr wrap="none">
            <a:spAutoFit/>
          </a:bodyPr>
          <a:lstStyle/>
          <a:p>
            <a:pPr>
              <a:defRPr sz="1500" b="1">
                <a:solidFill>
                  <a:srgbClr val="34824B"/>
                </a:solidFill>
              </a:defRPr>
            </a:pPr>
            <a:r>
              <a:t>R²</a:t>
            </a:r>
          </a:p>
        </p:txBody>
      </p:sp>
      <p:sp>
        <p:nvSpPr>
          <p:cNvPr id="22" name="TextBox 21"/>
          <p:cNvSpPr txBox="1"/>
          <p:nvPr/>
        </p:nvSpPr>
        <p:spPr>
          <a:xfrm>
            <a:off x="8110728" y="4690872"/>
            <a:ext cx="2971800" cy="530352"/>
          </a:xfrm>
          <a:prstGeom prst="rect">
            <a:avLst/>
          </a:prstGeom>
          <a:noFill/>
        </p:spPr>
        <p:txBody>
          <a:bodyPr wrap="square">
            <a:spAutoFit/>
          </a:bodyPr>
          <a:lstStyle/>
          <a:p>
            <a:pPr>
              <a:defRPr sz="1150">
                <a:solidFill>
                  <a:srgbClr val="232A34"/>
                </a:solidFill>
              </a:defRPr>
            </a:pPr>
            <a:r>
              <a:t>0.9571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sz="quarter" idx="13"/>
          </p:nvPr>
        </p:nvSpPr>
        <p:spPr/>
        <p:txBody>
          <a:bodyPr/>
          <a:lstStyle/>
          <a:p>
            <a:endParaRPr/>
          </a:p>
        </p:txBody>
      </p:sp>
      <p:sp>
        <p:nvSpPr>
          <p:cNvPr id="4" name="Picture Placeholder 3"/>
          <p:cNvSpPr>
            <a:spLocks noGrp="1"/>
          </p:cNvSpPr>
          <p:nvPr>
            <p:ph type="pic" sz="quarter" idx="17"/>
          </p:nvPr>
        </p:nvSpPr>
        <p:spPr/>
        <p:txBody>
          <a:bodyPr/>
          <a:lstStyle/>
          <a:p>
            <a:endParaRPr/>
          </a:p>
        </p:txBody>
      </p:sp>
      <p:sp>
        <p:nvSpPr>
          <p:cNvPr id="6"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3"/>
          <p:cNvSpPr txBox="1"/>
          <p:nvPr/>
        </p:nvSpPr>
        <p:spPr>
          <a:xfrm>
            <a:off x="502920" y="256032"/>
            <a:ext cx="3057247" cy="507831"/>
          </a:xfrm>
          <a:prstGeom prst="rect">
            <a:avLst/>
          </a:prstGeom>
          <a:noFill/>
        </p:spPr>
        <p:txBody>
          <a:bodyPr wrap="none">
            <a:spAutoFit/>
          </a:bodyPr>
          <a:lstStyle/>
          <a:p>
            <a:pPr>
              <a:defRPr sz="2700" b="1">
                <a:solidFill>
                  <a:srgbClr val="143769"/>
                </a:solidFill>
                <a:latin typeface="Aptos Display"/>
              </a:defRPr>
            </a:pPr>
            <a:r>
              <a:rPr dirty="0"/>
              <a:t>1</a:t>
            </a:r>
            <a:r>
              <a:rPr lang="en-US" dirty="0"/>
              <a:t>0</a:t>
            </a:r>
            <a:r>
              <a:rPr dirty="0"/>
              <a:t>. ARIMA Baseline</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Classical univariate time-series baseline for traffic-volume forecasting</a:t>
            </a: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14</a:t>
            </a:r>
          </a:p>
        </p:txBody>
      </p:sp>
      <p:sp>
        <p:nvSpPr>
          <p:cNvPr id="9" name="Rounded Rectangle 8"/>
          <p:cNvSpPr/>
          <p:nvPr/>
        </p:nvSpPr>
        <p:spPr>
          <a:xfrm>
            <a:off x="68580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399031"/>
            <a:ext cx="2157984" cy="256032"/>
          </a:xfrm>
          <a:prstGeom prst="rect">
            <a:avLst/>
          </a:prstGeom>
          <a:noFill/>
        </p:spPr>
        <p:txBody>
          <a:bodyPr wrap="none">
            <a:spAutoFit/>
          </a:bodyPr>
          <a:lstStyle/>
          <a:p>
            <a:pPr algn="ctr">
              <a:defRPr sz="1050">
                <a:solidFill>
                  <a:srgbClr val="646E7D"/>
                </a:solidFill>
              </a:defRPr>
            </a:pPr>
            <a:r>
              <a:t>Model</a:t>
            </a:r>
          </a:p>
        </p:txBody>
      </p:sp>
      <p:sp>
        <p:nvSpPr>
          <p:cNvPr id="11" name="TextBox 10"/>
          <p:cNvSpPr txBox="1"/>
          <p:nvPr/>
        </p:nvSpPr>
        <p:spPr>
          <a:xfrm>
            <a:off x="795528" y="1673351"/>
            <a:ext cx="2157984" cy="411480"/>
          </a:xfrm>
          <a:prstGeom prst="rect">
            <a:avLst/>
          </a:prstGeom>
          <a:noFill/>
        </p:spPr>
        <p:txBody>
          <a:bodyPr wrap="none">
            <a:spAutoFit/>
          </a:bodyPr>
          <a:lstStyle/>
          <a:p>
            <a:pPr algn="ctr">
              <a:defRPr sz="2100" b="1">
                <a:solidFill>
                  <a:srgbClr val="2D63BE"/>
                </a:solidFill>
              </a:defRPr>
            </a:pPr>
            <a:r>
              <a:t>ARIMA(2,1,2)</a:t>
            </a:r>
          </a:p>
        </p:txBody>
      </p:sp>
      <p:sp>
        <p:nvSpPr>
          <p:cNvPr id="12" name="Rounded Rectangle 11"/>
          <p:cNvSpPr/>
          <p:nvPr/>
        </p:nvSpPr>
        <p:spPr>
          <a:xfrm>
            <a:off x="333756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47288" y="1399031"/>
            <a:ext cx="2157984" cy="256032"/>
          </a:xfrm>
          <a:prstGeom prst="rect">
            <a:avLst/>
          </a:prstGeom>
          <a:noFill/>
        </p:spPr>
        <p:txBody>
          <a:bodyPr wrap="none">
            <a:spAutoFit/>
          </a:bodyPr>
          <a:lstStyle/>
          <a:p>
            <a:pPr algn="ctr">
              <a:defRPr sz="1050">
                <a:solidFill>
                  <a:srgbClr val="646E7D"/>
                </a:solidFill>
              </a:defRPr>
            </a:pPr>
            <a:r>
              <a:t>Selection</a:t>
            </a:r>
          </a:p>
        </p:txBody>
      </p:sp>
      <p:sp>
        <p:nvSpPr>
          <p:cNvPr id="14" name="TextBox 13"/>
          <p:cNvSpPr txBox="1"/>
          <p:nvPr/>
        </p:nvSpPr>
        <p:spPr>
          <a:xfrm>
            <a:off x="3447288" y="1673351"/>
            <a:ext cx="2157984" cy="411480"/>
          </a:xfrm>
          <a:prstGeom prst="rect">
            <a:avLst/>
          </a:prstGeom>
          <a:noFill/>
        </p:spPr>
        <p:txBody>
          <a:bodyPr wrap="none">
            <a:spAutoFit/>
          </a:bodyPr>
          <a:lstStyle/>
          <a:p>
            <a:pPr algn="ctr">
              <a:defRPr sz="2100" b="1">
                <a:solidFill>
                  <a:srgbClr val="2D63BE"/>
                </a:solidFill>
              </a:defRPr>
            </a:pPr>
            <a:r>
              <a:t>Best AIC</a:t>
            </a:r>
          </a:p>
        </p:txBody>
      </p:sp>
      <p:sp>
        <p:nvSpPr>
          <p:cNvPr id="15" name="Rounded Rectangle 14"/>
          <p:cNvSpPr/>
          <p:nvPr/>
        </p:nvSpPr>
        <p:spPr>
          <a:xfrm>
            <a:off x="598932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99048" y="1399031"/>
            <a:ext cx="2157984" cy="256032"/>
          </a:xfrm>
          <a:prstGeom prst="rect">
            <a:avLst/>
          </a:prstGeom>
          <a:noFill/>
        </p:spPr>
        <p:txBody>
          <a:bodyPr wrap="none">
            <a:spAutoFit/>
          </a:bodyPr>
          <a:lstStyle/>
          <a:p>
            <a:pPr algn="ctr">
              <a:defRPr sz="1050">
                <a:solidFill>
                  <a:srgbClr val="646E7D"/>
                </a:solidFill>
              </a:defRPr>
            </a:pPr>
            <a:r>
              <a:t>Train</a:t>
            </a:r>
          </a:p>
        </p:txBody>
      </p:sp>
      <p:sp>
        <p:nvSpPr>
          <p:cNvPr id="17" name="TextBox 16"/>
          <p:cNvSpPr txBox="1"/>
          <p:nvPr/>
        </p:nvSpPr>
        <p:spPr>
          <a:xfrm>
            <a:off x="6099048" y="1673351"/>
            <a:ext cx="2157984" cy="411480"/>
          </a:xfrm>
          <a:prstGeom prst="rect">
            <a:avLst/>
          </a:prstGeom>
          <a:noFill/>
        </p:spPr>
        <p:txBody>
          <a:bodyPr wrap="none">
            <a:spAutoFit/>
          </a:bodyPr>
          <a:lstStyle/>
          <a:p>
            <a:pPr algn="ctr">
              <a:defRPr sz="2100" b="1">
                <a:solidFill>
                  <a:srgbClr val="2D63BE"/>
                </a:solidFill>
              </a:defRPr>
            </a:pPr>
            <a:r>
              <a:t>40,340</a:t>
            </a:r>
          </a:p>
        </p:txBody>
      </p:sp>
      <p:sp>
        <p:nvSpPr>
          <p:cNvPr id="18" name="Rounded Rectangle 17"/>
          <p:cNvSpPr/>
          <p:nvPr/>
        </p:nvSpPr>
        <p:spPr>
          <a:xfrm>
            <a:off x="864108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50807" y="1399031"/>
            <a:ext cx="2157984" cy="256032"/>
          </a:xfrm>
          <a:prstGeom prst="rect">
            <a:avLst/>
          </a:prstGeom>
          <a:noFill/>
        </p:spPr>
        <p:txBody>
          <a:bodyPr wrap="none">
            <a:spAutoFit/>
          </a:bodyPr>
          <a:lstStyle/>
          <a:p>
            <a:pPr algn="ctr">
              <a:defRPr sz="1050">
                <a:solidFill>
                  <a:srgbClr val="646E7D"/>
                </a:solidFill>
              </a:defRPr>
            </a:pPr>
            <a:r>
              <a:t>Test</a:t>
            </a:r>
          </a:p>
        </p:txBody>
      </p:sp>
      <p:sp>
        <p:nvSpPr>
          <p:cNvPr id="20" name="TextBox 19"/>
          <p:cNvSpPr txBox="1"/>
          <p:nvPr/>
        </p:nvSpPr>
        <p:spPr>
          <a:xfrm>
            <a:off x="8750807" y="1673351"/>
            <a:ext cx="2157984" cy="411480"/>
          </a:xfrm>
          <a:prstGeom prst="rect">
            <a:avLst/>
          </a:prstGeom>
          <a:noFill/>
        </p:spPr>
        <p:txBody>
          <a:bodyPr wrap="none">
            <a:spAutoFit/>
          </a:bodyPr>
          <a:lstStyle/>
          <a:p>
            <a:pPr algn="ctr">
              <a:defRPr sz="2100" b="1">
                <a:solidFill>
                  <a:srgbClr val="34824B"/>
                </a:solidFill>
              </a:defRPr>
            </a:pPr>
            <a:r>
              <a:t>6,105</a:t>
            </a:r>
          </a:p>
        </p:txBody>
      </p:sp>
      <p:sp>
        <p:nvSpPr>
          <p:cNvPr id="24" name="Rectangle 23"/>
          <p:cNvSpPr/>
          <p:nvPr/>
        </p:nvSpPr>
        <p:spPr>
          <a:xfrm>
            <a:off x="777240" y="5532120"/>
            <a:ext cx="64008" cy="6400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3246120"/>
            <a:ext cx="9784080" cy="1828800"/>
          </a:xfrm>
          <a:prstGeom prst="rect">
            <a:avLst/>
          </a:prstGeom>
          <a:noFill/>
        </p:spPr>
        <p:txBody>
          <a:bodyPr wrap="square">
            <a:spAutoFit/>
          </a:bodyPr>
          <a:lstStyle/>
          <a:p>
            <a:pPr>
              <a:defRPr sz="2000" b="1"/>
            </a:pPr>
            <a:r>
              <a:rPr>
                <a:solidFill>
                  <a:srgbClr val="1F3758"/>
                </a:solidFill>
              </a:rPr>
              <a:t>ARIMA setup</a:t>
            </a:r>
          </a:p>
          <a:p>
            <a:pPr>
              <a:defRPr sz="1600"/>
            </a:pPr>
            <a:r>
              <a:rPr>
                <a:solidFill>
                  <a:srgbClr val="1F3758"/>
                </a:solidFill>
              </a:rPr>
              <a:t>• Regular hourly traffic-volume series was prepared for ARIMA.</a:t>
            </a:r>
          </a:p>
          <a:p>
            <a:pPr>
              <a:defRPr sz="1600"/>
            </a:pPr>
            <a:r>
              <a:rPr>
                <a:solidFill>
                  <a:srgbClr val="1F3758"/>
                </a:solidFill>
              </a:rPr>
              <a:t>• Candidate orders were compared using AIC/BIC; ARIMA(2,1,2) had the lowest AIC.</a:t>
            </a:r>
          </a:p>
          <a:p>
            <a:pPr>
              <a:defRPr sz="1600"/>
            </a:pPr>
            <a:r>
              <a:rPr>
                <a:solidFill>
                  <a:srgbClr val="1F3758"/>
                </a:solidFill>
              </a:rPr>
              <a:t>• ARIMA uses the historical traffic-volume series itself and does not use the 22-feature LSTM input sequence.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sz="quarter" idx="13"/>
          </p:nvPr>
        </p:nvSpPr>
        <p:spPr/>
        <p:txBody>
          <a:bodyPr/>
          <a:lstStyle/>
          <a:p>
            <a:endParaRPr/>
          </a:p>
        </p:txBody>
      </p:sp>
      <p:sp>
        <p:nvSpPr>
          <p:cNvPr id="4" name="Picture Placeholder 3"/>
          <p:cNvSpPr>
            <a:spLocks noGrp="1"/>
          </p:cNvSpPr>
          <p:nvPr>
            <p:ph type="pic" sz="quarter" idx="17"/>
          </p:nvPr>
        </p:nvSpPr>
        <p:spPr/>
        <p:txBody>
          <a:bodyPr/>
          <a:lstStyle/>
          <a:p>
            <a:endParaRPr/>
          </a:p>
        </p:txBody>
      </p:sp>
      <p:sp>
        <p:nvSpPr>
          <p:cNvPr id="6"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3"/>
          <p:cNvSpPr txBox="1"/>
          <p:nvPr/>
        </p:nvSpPr>
        <p:spPr>
          <a:xfrm>
            <a:off x="502920" y="256032"/>
            <a:ext cx="3690369" cy="507831"/>
          </a:xfrm>
          <a:prstGeom prst="rect">
            <a:avLst/>
          </a:prstGeom>
          <a:noFill/>
        </p:spPr>
        <p:txBody>
          <a:bodyPr wrap="none">
            <a:spAutoFit/>
          </a:bodyPr>
          <a:lstStyle/>
          <a:p>
            <a:pPr>
              <a:defRPr sz="2700" b="1">
                <a:solidFill>
                  <a:srgbClr val="143769"/>
                </a:solidFill>
                <a:latin typeface="Aptos Display"/>
              </a:defRPr>
            </a:pPr>
            <a:r>
              <a:rPr dirty="0"/>
              <a:t>1</a:t>
            </a:r>
            <a:r>
              <a:rPr lang="en-US" dirty="0"/>
              <a:t>1</a:t>
            </a:r>
            <a:r>
              <a:rPr dirty="0"/>
              <a:t>. ARIMA Performance</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Final test-set performance from the ARIMA forecasting baseline</a:t>
            </a: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15</a:t>
            </a:r>
          </a:p>
        </p:txBody>
      </p:sp>
      <p:sp>
        <p:nvSpPr>
          <p:cNvPr id="9" name="Rounded Rectangle 8"/>
          <p:cNvSpPr/>
          <p:nvPr/>
        </p:nvSpPr>
        <p:spPr>
          <a:xfrm>
            <a:off x="68580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399031"/>
            <a:ext cx="2157984" cy="256032"/>
          </a:xfrm>
          <a:prstGeom prst="rect">
            <a:avLst/>
          </a:prstGeom>
          <a:noFill/>
        </p:spPr>
        <p:txBody>
          <a:bodyPr wrap="none">
            <a:spAutoFit/>
          </a:bodyPr>
          <a:lstStyle/>
          <a:p>
            <a:pPr algn="ctr">
              <a:defRPr sz="1050">
                <a:solidFill>
                  <a:srgbClr val="646E7D"/>
                </a:solidFill>
              </a:defRPr>
            </a:pPr>
            <a:r>
              <a:t>MAE</a:t>
            </a:r>
          </a:p>
        </p:txBody>
      </p:sp>
      <p:sp>
        <p:nvSpPr>
          <p:cNvPr id="11" name="TextBox 10"/>
          <p:cNvSpPr txBox="1"/>
          <p:nvPr/>
        </p:nvSpPr>
        <p:spPr>
          <a:xfrm>
            <a:off x="795528" y="1673351"/>
            <a:ext cx="2157984" cy="411480"/>
          </a:xfrm>
          <a:prstGeom prst="rect">
            <a:avLst/>
          </a:prstGeom>
          <a:noFill/>
        </p:spPr>
        <p:txBody>
          <a:bodyPr wrap="none">
            <a:spAutoFit/>
          </a:bodyPr>
          <a:lstStyle/>
          <a:p>
            <a:pPr algn="ctr">
              <a:defRPr sz="2100" b="1">
                <a:solidFill>
                  <a:srgbClr val="2D63BE"/>
                </a:solidFill>
              </a:defRPr>
            </a:pPr>
            <a:r>
              <a:t>2,388.49</a:t>
            </a:r>
          </a:p>
        </p:txBody>
      </p:sp>
      <p:sp>
        <p:nvSpPr>
          <p:cNvPr id="12" name="Rounded Rectangle 11"/>
          <p:cNvSpPr/>
          <p:nvPr/>
        </p:nvSpPr>
        <p:spPr>
          <a:xfrm>
            <a:off x="333756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47288" y="1399031"/>
            <a:ext cx="2157984" cy="256032"/>
          </a:xfrm>
          <a:prstGeom prst="rect">
            <a:avLst/>
          </a:prstGeom>
          <a:noFill/>
        </p:spPr>
        <p:txBody>
          <a:bodyPr wrap="none">
            <a:spAutoFit/>
          </a:bodyPr>
          <a:lstStyle/>
          <a:p>
            <a:pPr algn="ctr">
              <a:defRPr sz="1050">
                <a:solidFill>
                  <a:srgbClr val="646E7D"/>
                </a:solidFill>
              </a:defRPr>
            </a:pPr>
            <a:r>
              <a:t>MSE</a:t>
            </a:r>
          </a:p>
        </p:txBody>
      </p:sp>
      <p:sp>
        <p:nvSpPr>
          <p:cNvPr id="14" name="TextBox 13"/>
          <p:cNvSpPr txBox="1"/>
          <p:nvPr/>
        </p:nvSpPr>
        <p:spPr>
          <a:xfrm>
            <a:off x="3447288" y="1673351"/>
            <a:ext cx="2157984" cy="411480"/>
          </a:xfrm>
          <a:prstGeom prst="rect">
            <a:avLst/>
          </a:prstGeom>
          <a:noFill/>
        </p:spPr>
        <p:txBody>
          <a:bodyPr wrap="none">
            <a:spAutoFit/>
          </a:bodyPr>
          <a:lstStyle/>
          <a:p>
            <a:pPr algn="ctr">
              <a:defRPr sz="2100" b="1">
                <a:solidFill>
                  <a:srgbClr val="2D63BE"/>
                </a:solidFill>
              </a:defRPr>
            </a:pPr>
            <a:r>
              <a:t>8,924,468.90</a:t>
            </a:r>
          </a:p>
        </p:txBody>
      </p:sp>
      <p:sp>
        <p:nvSpPr>
          <p:cNvPr id="15" name="Rounded Rectangle 14"/>
          <p:cNvSpPr/>
          <p:nvPr/>
        </p:nvSpPr>
        <p:spPr>
          <a:xfrm>
            <a:off x="598932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99048" y="1399031"/>
            <a:ext cx="2157984" cy="256032"/>
          </a:xfrm>
          <a:prstGeom prst="rect">
            <a:avLst/>
          </a:prstGeom>
          <a:noFill/>
        </p:spPr>
        <p:txBody>
          <a:bodyPr wrap="none">
            <a:spAutoFit/>
          </a:bodyPr>
          <a:lstStyle/>
          <a:p>
            <a:pPr algn="ctr">
              <a:defRPr sz="1050">
                <a:solidFill>
                  <a:srgbClr val="646E7D"/>
                </a:solidFill>
              </a:defRPr>
            </a:pPr>
            <a:r>
              <a:t>RMSE</a:t>
            </a:r>
          </a:p>
        </p:txBody>
      </p:sp>
      <p:sp>
        <p:nvSpPr>
          <p:cNvPr id="17" name="TextBox 16"/>
          <p:cNvSpPr txBox="1"/>
          <p:nvPr/>
        </p:nvSpPr>
        <p:spPr>
          <a:xfrm>
            <a:off x="6099048" y="1673351"/>
            <a:ext cx="2157984" cy="411480"/>
          </a:xfrm>
          <a:prstGeom prst="rect">
            <a:avLst/>
          </a:prstGeom>
          <a:noFill/>
        </p:spPr>
        <p:txBody>
          <a:bodyPr wrap="none">
            <a:spAutoFit/>
          </a:bodyPr>
          <a:lstStyle/>
          <a:p>
            <a:pPr algn="ctr">
              <a:defRPr sz="2100" b="1">
                <a:solidFill>
                  <a:srgbClr val="2D63BE"/>
                </a:solidFill>
              </a:defRPr>
            </a:pPr>
            <a:r>
              <a:t>2,987.38</a:t>
            </a:r>
          </a:p>
        </p:txBody>
      </p:sp>
      <p:sp>
        <p:nvSpPr>
          <p:cNvPr id="18" name="Rounded Rectangle 17"/>
          <p:cNvSpPr/>
          <p:nvPr/>
        </p:nvSpPr>
        <p:spPr>
          <a:xfrm>
            <a:off x="864108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50807" y="1399031"/>
            <a:ext cx="2157984" cy="256032"/>
          </a:xfrm>
          <a:prstGeom prst="rect">
            <a:avLst/>
          </a:prstGeom>
          <a:noFill/>
        </p:spPr>
        <p:txBody>
          <a:bodyPr wrap="none">
            <a:spAutoFit/>
          </a:bodyPr>
          <a:lstStyle/>
          <a:p>
            <a:pPr algn="ctr">
              <a:defRPr sz="1050">
                <a:solidFill>
                  <a:srgbClr val="646E7D"/>
                </a:solidFill>
              </a:defRPr>
            </a:pPr>
            <a:r>
              <a:t>R²</a:t>
            </a:r>
          </a:p>
        </p:txBody>
      </p:sp>
      <p:sp>
        <p:nvSpPr>
          <p:cNvPr id="20" name="TextBox 19"/>
          <p:cNvSpPr txBox="1"/>
          <p:nvPr/>
        </p:nvSpPr>
        <p:spPr>
          <a:xfrm>
            <a:off x="8750807" y="1673351"/>
            <a:ext cx="2157984" cy="411480"/>
          </a:xfrm>
          <a:prstGeom prst="rect">
            <a:avLst/>
          </a:prstGeom>
          <a:noFill/>
        </p:spPr>
        <p:txBody>
          <a:bodyPr wrap="none">
            <a:spAutoFit/>
          </a:bodyPr>
          <a:lstStyle/>
          <a:p>
            <a:pPr algn="ctr">
              <a:defRPr sz="2100" b="1">
                <a:solidFill>
                  <a:srgbClr val="34824B"/>
                </a:solidFill>
              </a:defRPr>
            </a:pPr>
            <a:r>
              <a:t>-1.2751</a:t>
            </a:r>
          </a:p>
        </p:txBody>
      </p:sp>
      <p:sp>
        <p:nvSpPr>
          <p:cNvPr id="24" name="Rectangle 23"/>
          <p:cNvSpPr/>
          <p:nvPr/>
        </p:nvSpPr>
        <p:spPr>
          <a:xfrm>
            <a:off x="777240" y="5532120"/>
            <a:ext cx="64008" cy="6400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3063240"/>
            <a:ext cx="9784080" cy="2148840"/>
          </a:xfrm>
          <a:prstGeom prst="rect">
            <a:avLst/>
          </a:prstGeom>
          <a:noFill/>
        </p:spPr>
        <p:txBody>
          <a:bodyPr wrap="square">
            <a:spAutoFit/>
          </a:bodyPr>
          <a:lstStyle/>
          <a:p>
            <a:pPr>
              <a:defRPr sz="2000" b="1"/>
            </a:pPr>
            <a:r>
              <a:rPr>
                <a:solidFill>
                  <a:srgbClr val="1F3758"/>
                </a:solidFill>
              </a:rPr>
              <a:t>Interpretation</a:t>
            </a:r>
          </a:p>
          <a:p>
            <a:pPr>
              <a:defRPr sz="1600"/>
            </a:pPr>
            <a:r>
              <a:rPr>
                <a:solidFill>
                  <a:srgbClr val="1F3758"/>
                </a:solidFill>
              </a:rPr>
              <a:t>• MAE = 2,388.49 and RMSE = 2,987.38 indicate large prediction errors.</a:t>
            </a:r>
          </a:p>
          <a:p>
            <a:pPr>
              <a:defRPr sz="1600"/>
            </a:pPr>
            <a:r>
              <a:rPr>
                <a:solidFill>
                  <a:srgbClr val="1F3758"/>
                </a:solidFill>
              </a:rPr>
              <a:t>• R² = -1.2751 means the ARIMA predictions performed worse than a simple mean-based benchmark on the test set.</a:t>
            </a:r>
          </a:p>
          <a:p>
            <a:pPr>
              <a:defRPr sz="1600"/>
            </a:pPr>
            <a:r>
              <a:rPr>
                <a:solidFill>
                  <a:srgbClr val="1F3758"/>
                </a:solidFill>
              </a:rPr>
              <a:t>• The result suggests that basic ARIMA does not capture the complex temporal and contextual traffic patterns as effectively as the project's ANN/LSTM models.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5010474" cy="507831"/>
          </a:xfrm>
          <a:prstGeom prst="rect">
            <a:avLst/>
          </a:prstGeom>
          <a:noFill/>
        </p:spPr>
        <p:txBody>
          <a:bodyPr wrap="none">
            <a:spAutoFit/>
          </a:bodyPr>
          <a:lstStyle/>
          <a:p>
            <a:pPr>
              <a:defRPr sz="2700" b="1">
                <a:solidFill>
                  <a:srgbClr val="143769"/>
                </a:solidFill>
                <a:latin typeface="Aptos Display"/>
              </a:defRPr>
            </a:pPr>
            <a:r>
              <a:rPr dirty="0"/>
              <a:t>1</a:t>
            </a:r>
            <a:r>
              <a:rPr lang="en-US" dirty="0"/>
              <a:t>2</a:t>
            </a:r>
            <a:r>
              <a:rPr dirty="0"/>
              <a:t>. Deep Learning: ANN Baseline</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A feed-forward neural network was also evaluated before the sequential LSTM model</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11</a:t>
            </a:r>
          </a:p>
        </p:txBody>
      </p:sp>
      <p:sp>
        <p:nvSpPr>
          <p:cNvPr id="9" name="Rounded Rectangle 8"/>
          <p:cNvSpPr/>
          <p:nvPr/>
        </p:nvSpPr>
        <p:spPr>
          <a:xfrm>
            <a:off x="594360" y="1188720"/>
            <a:ext cx="3657600" cy="18288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188720"/>
            <a:ext cx="64008" cy="182880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1325880"/>
            <a:ext cx="3291840" cy="320040"/>
          </a:xfrm>
          <a:prstGeom prst="rect">
            <a:avLst/>
          </a:prstGeom>
          <a:noFill/>
        </p:spPr>
        <p:txBody>
          <a:bodyPr wrap="none">
            <a:spAutoFit/>
          </a:bodyPr>
          <a:lstStyle/>
          <a:p>
            <a:pPr>
              <a:defRPr sz="1500" b="1">
                <a:solidFill>
                  <a:srgbClr val="2D63BE"/>
                </a:solidFill>
              </a:defRPr>
            </a:pPr>
            <a:r>
              <a:t>ANN structure</a:t>
            </a:r>
          </a:p>
        </p:txBody>
      </p:sp>
      <p:sp>
        <p:nvSpPr>
          <p:cNvPr id="12" name="TextBox 11"/>
          <p:cNvSpPr txBox="1"/>
          <p:nvPr/>
        </p:nvSpPr>
        <p:spPr>
          <a:xfrm>
            <a:off x="795528" y="1719072"/>
            <a:ext cx="3291840" cy="1170432"/>
          </a:xfrm>
          <a:prstGeom prst="rect">
            <a:avLst/>
          </a:prstGeom>
          <a:noFill/>
        </p:spPr>
        <p:txBody>
          <a:bodyPr wrap="square">
            <a:spAutoFit/>
          </a:bodyPr>
          <a:lstStyle/>
          <a:p>
            <a:pPr>
              <a:defRPr sz="1150">
                <a:solidFill>
                  <a:srgbClr val="232A34"/>
                </a:solidFill>
              </a:defRPr>
            </a:pPr>
            <a:r>
              <a:t>Dense(128) → Dropout → Dense(64) → Dropout → Dense(32) → Dense(1)</a:t>
            </a:r>
          </a:p>
        </p:txBody>
      </p:sp>
      <p:sp>
        <p:nvSpPr>
          <p:cNvPr id="13" name="Rounded Rectangle 12"/>
          <p:cNvSpPr/>
          <p:nvPr/>
        </p:nvSpPr>
        <p:spPr>
          <a:xfrm>
            <a:off x="594360" y="3246120"/>
            <a:ext cx="3657600" cy="16002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4360" y="3246120"/>
            <a:ext cx="64008" cy="160020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3383279"/>
            <a:ext cx="3291840" cy="320040"/>
          </a:xfrm>
          <a:prstGeom prst="rect">
            <a:avLst/>
          </a:prstGeom>
          <a:noFill/>
        </p:spPr>
        <p:txBody>
          <a:bodyPr wrap="none">
            <a:spAutoFit/>
          </a:bodyPr>
          <a:lstStyle/>
          <a:p>
            <a:pPr>
              <a:defRPr sz="1500" b="1">
                <a:solidFill>
                  <a:srgbClr val="734BA5"/>
                </a:solidFill>
              </a:defRPr>
            </a:pPr>
            <a:r>
              <a:t>ANN performance</a:t>
            </a:r>
          </a:p>
        </p:txBody>
      </p:sp>
      <p:sp>
        <p:nvSpPr>
          <p:cNvPr id="16" name="TextBox 15"/>
          <p:cNvSpPr txBox="1"/>
          <p:nvPr/>
        </p:nvSpPr>
        <p:spPr>
          <a:xfrm>
            <a:off x="795528" y="3776472"/>
            <a:ext cx="3291840" cy="941832"/>
          </a:xfrm>
          <a:prstGeom prst="rect">
            <a:avLst/>
          </a:prstGeom>
          <a:noFill/>
        </p:spPr>
        <p:txBody>
          <a:bodyPr wrap="square">
            <a:spAutoFit/>
          </a:bodyPr>
          <a:lstStyle/>
          <a:p>
            <a:pPr>
              <a:defRPr sz="1150">
                <a:solidFill>
                  <a:srgbClr val="232A34"/>
                </a:solidFill>
              </a:defRPr>
            </a:pPr>
            <a:r>
              <a:t>MAE: 375.71</a:t>
            </a:r>
            <a:br/>
            <a:r>
              <a:t>RMSE: 511.04</a:t>
            </a:r>
            <a:br/>
            <a:r>
              <a:t>R²: 0.9334</a:t>
            </a:r>
          </a:p>
        </p:txBody>
      </p:sp>
      <p:pic>
        <p:nvPicPr>
          <p:cNvPr id="17" name="Picture 16" descr="dl_91.png"/>
          <p:cNvPicPr>
            <a:picLocks noChangeAspect="1"/>
          </p:cNvPicPr>
          <p:nvPr/>
        </p:nvPicPr>
        <p:blipFill>
          <a:blip r:embed="rId2"/>
          <a:stretch>
            <a:fillRect/>
          </a:stretch>
        </p:blipFill>
        <p:spPr>
          <a:xfrm>
            <a:off x="4526280" y="1628471"/>
            <a:ext cx="3429000" cy="1589378"/>
          </a:xfrm>
          <a:prstGeom prst="rect">
            <a:avLst/>
          </a:prstGeom>
        </p:spPr>
      </p:pic>
      <p:pic>
        <p:nvPicPr>
          <p:cNvPr id="18" name="Picture 17" descr="dl_92.png"/>
          <p:cNvPicPr>
            <a:picLocks noChangeAspect="1"/>
          </p:cNvPicPr>
          <p:nvPr/>
        </p:nvPicPr>
        <p:blipFill>
          <a:blip r:embed="rId3"/>
          <a:stretch>
            <a:fillRect/>
          </a:stretch>
        </p:blipFill>
        <p:spPr>
          <a:xfrm>
            <a:off x="8637122" y="1188720"/>
            <a:ext cx="2476793" cy="2468880"/>
          </a:xfrm>
          <a:prstGeom prst="rect">
            <a:avLst/>
          </a:prstGeom>
        </p:spPr>
      </p:pic>
      <p:pic>
        <p:nvPicPr>
          <p:cNvPr id="19" name="Picture 18" descr="dl_85.png"/>
          <p:cNvPicPr>
            <a:picLocks noChangeAspect="1"/>
          </p:cNvPicPr>
          <p:nvPr/>
        </p:nvPicPr>
        <p:blipFill>
          <a:blip r:embed="rId4"/>
          <a:stretch>
            <a:fillRect/>
          </a:stretch>
        </p:blipFill>
        <p:spPr>
          <a:xfrm>
            <a:off x="4526280" y="4004023"/>
            <a:ext cx="3429000" cy="1867473"/>
          </a:xfrm>
          <a:prstGeom prst="rect">
            <a:avLst/>
          </a:prstGeom>
        </p:spPr>
      </p:pic>
      <p:pic>
        <p:nvPicPr>
          <p:cNvPr id="20" name="Picture 19" descr="dl_86.png"/>
          <p:cNvPicPr>
            <a:picLocks noChangeAspect="1"/>
          </p:cNvPicPr>
          <p:nvPr/>
        </p:nvPicPr>
        <p:blipFill>
          <a:blip r:embed="rId5"/>
          <a:stretch>
            <a:fillRect/>
          </a:stretch>
        </p:blipFill>
        <p:spPr>
          <a:xfrm>
            <a:off x="8183879" y="4007853"/>
            <a:ext cx="3383280" cy="185981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5157053" cy="507831"/>
          </a:xfrm>
          <a:prstGeom prst="rect">
            <a:avLst/>
          </a:prstGeom>
          <a:noFill/>
        </p:spPr>
        <p:txBody>
          <a:bodyPr wrap="none">
            <a:spAutoFit/>
          </a:bodyPr>
          <a:lstStyle/>
          <a:p>
            <a:pPr>
              <a:defRPr sz="2700" b="1">
                <a:solidFill>
                  <a:srgbClr val="143769"/>
                </a:solidFill>
                <a:latin typeface="Aptos Display"/>
              </a:defRPr>
            </a:pPr>
            <a:r>
              <a:rPr dirty="0"/>
              <a:t>1</a:t>
            </a:r>
            <a:r>
              <a:rPr lang="en-US" dirty="0"/>
              <a:t>3</a:t>
            </a:r>
            <a:r>
              <a:rPr dirty="0"/>
              <a:t>. LSTM Time-Series Forecasting</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24-hour sequences were used to predict the next traffic-volume time step</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12</a:t>
            </a:r>
          </a:p>
        </p:txBody>
      </p:sp>
      <p:sp>
        <p:nvSpPr>
          <p:cNvPr id="9" name="Rounded Rectangle 8"/>
          <p:cNvSpPr/>
          <p:nvPr/>
        </p:nvSpPr>
        <p:spPr>
          <a:xfrm>
            <a:off x="914400" y="1417320"/>
            <a:ext cx="1508760" cy="914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1417320"/>
            <a:ext cx="64008" cy="91440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5568" y="1554480"/>
            <a:ext cx="1143000" cy="320040"/>
          </a:xfrm>
          <a:prstGeom prst="rect">
            <a:avLst/>
          </a:prstGeom>
          <a:noFill/>
        </p:spPr>
        <p:txBody>
          <a:bodyPr wrap="none">
            <a:spAutoFit/>
          </a:bodyPr>
          <a:lstStyle/>
          <a:p>
            <a:pPr>
              <a:defRPr sz="1500" b="1">
                <a:solidFill>
                  <a:srgbClr val="34824B"/>
                </a:solidFill>
              </a:defRPr>
            </a:pPr>
            <a:r>
              <a:t>Hour 1</a:t>
            </a:r>
          </a:p>
        </p:txBody>
      </p:sp>
      <p:sp>
        <p:nvSpPr>
          <p:cNvPr id="12" name="TextBox 11"/>
          <p:cNvSpPr txBox="1"/>
          <p:nvPr/>
        </p:nvSpPr>
        <p:spPr>
          <a:xfrm>
            <a:off x="1115568" y="1947672"/>
            <a:ext cx="1143000" cy="256032"/>
          </a:xfrm>
          <a:prstGeom prst="rect">
            <a:avLst/>
          </a:prstGeom>
          <a:noFill/>
        </p:spPr>
        <p:txBody>
          <a:bodyPr wrap="square">
            <a:spAutoFit/>
          </a:bodyPr>
          <a:lstStyle/>
          <a:p>
            <a:pPr>
              <a:defRPr sz="1150">
                <a:solidFill>
                  <a:srgbClr val="232A34"/>
                </a:solidFill>
              </a:defRPr>
            </a:pPr>
            <a:r>
              <a:t>Feature vector</a:t>
            </a:r>
          </a:p>
        </p:txBody>
      </p:sp>
      <p:sp>
        <p:nvSpPr>
          <p:cNvPr id="13" name="Right Arrow 12"/>
          <p:cNvSpPr/>
          <p:nvPr/>
        </p:nvSpPr>
        <p:spPr>
          <a:xfrm>
            <a:off x="2468880" y="1664208"/>
            <a:ext cx="347472" cy="320040"/>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880360" y="1417320"/>
            <a:ext cx="1508760" cy="914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80360" y="1417320"/>
            <a:ext cx="64008" cy="91440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81528" y="1554480"/>
            <a:ext cx="1143000" cy="320040"/>
          </a:xfrm>
          <a:prstGeom prst="rect">
            <a:avLst/>
          </a:prstGeom>
          <a:noFill/>
        </p:spPr>
        <p:txBody>
          <a:bodyPr wrap="none">
            <a:spAutoFit/>
          </a:bodyPr>
          <a:lstStyle/>
          <a:p>
            <a:pPr>
              <a:defRPr sz="1500" b="1">
                <a:solidFill>
                  <a:srgbClr val="34824B"/>
                </a:solidFill>
              </a:defRPr>
            </a:pPr>
            <a:r>
              <a:t>Hour 2</a:t>
            </a:r>
          </a:p>
        </p:txBody>
      </p:sp>
      <p:sp>
        <p:nvSpPr>
          <p:cNvPr id="17" name="TextBox 16"/>
          <p:cNvSpPr txBox="1"/>
          <p:nvPr/>
        </p:nvSpPr>
        <p:spPr>
          <a:xfrm>
            <a:off x="3081528" y="1947672"/>
            <a:ext cx="1143000" cy="256032"/>
          </a:xfrm>
          <a:prstGeom prst="rect">
            <a:avLst/>
          </a:prstGeom>
          <a:noFill/>
        </p:spPr>
        <p:txBody>
          <a:bodyPr wrap="square">
            <a:spAutoFit/>
          </a:bodyPr>
          <a:lstStyle/>
          <a:p>
            <a:pPr>
              <a:defRPr sz="1150">
                <a:solidFill>
                  <a:srgbClr val="232A34"/>
                </a:solidFill>
              </a:defRPr>
            </a:pPr>
            <a:r>
              <a:t>Feature vector</a:t>
            </a:r>
          </a:p>
        </p:txBody>
      </p:sp>
      <p:sp>
        <p:nvSpPr>
          <p:cNvPr id="18" name="Right Arrow 17"/>
          <p:cNvSpPr/>
          <p:nvPr/>
        </p:nvSpPr>
        <p:spPr>
          <a:xfrm>
            <a:off x="4434840" y="1664208"/>
            <a:ext cx="347472" cy="320040"/>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846320" y="1417320"/>
            <a:ext cx="1508760" cy="914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846320" y="1417320"/>
            <a:ext cx="64008" cy="91440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47488" y="1554480"/>
            <a:ext cx="1143000" cy="320040"/>
          </a:xfrm>
          <a:prstGeom prst="rect">
            <a:avLst/>
          </a:prstGeom>
          <a:noFill/>
        </p:spPr>
        <p:txBody>
          <a:bodyPr wrap="none">
            <a:spAutoFit/>
          </a:bodyPr>
          <a:lstStyle/>
          <a:p>
            <a:pPr>
              <a:defRPr sz="1500" b="1">
                <a:solidFill>
                  <a:srgbClr val="34824B"/>
                </a:solidFill>
              </a:defRPr>
            </a:pPr>
            <a:r>
              <a:t>Hour 3</a:t>
            </a:r>
          </a:p>
        </p:txBody>
      </p:sp>
      <p:sp>
        <p:nvSpPr>
          <p:cNvPr id="22" name="TextBox 21"/>
          <p:cNvSpPr txBox="1"/>
          <p:nvPr/>
        </p:nvSpPr>
        <p:spPr>
          <a:xfrm>
            <a:off x="5047488" y="1947672"/>
            <a:ext cx="1143000" cy="256032"/>
          </a:xfrm>
          <a:prstGeom prst="rect">
            <a:avLst/>
          </a:prstGeom>
          <a:noFill/>
        </p:spPr>
        <p:txBody>
          <a:bodyPr wrap="square">
            <a:spAutoFit/>
          </a:bodyPr>
          <a:lstStyle/>
          <a:p>
            <a:pPr>
              <a:defRPr sz="1150">
                <a:solidFill>
                  <a:srgbClr val="232A34"/>
                </a:solidFill>
              </a:defRPr>
            </a:pPr>
            <a:r>
              <a:t>Feature vector</a:t>
            </a:r>
          </a:p>
        </p:txBody>
      </p:sp>
      <p:sp>
        <p:nvSpPr>
          <p:cNvPr id="23" name="Right Arrow 22"/>
          <p:cNvSpPr/>
          <p:nvPr/>
        </p:nvSpPr>
        <p:spPr>
          <a:xfrm>
            <a:off x="6400800" y="1664208"/>
            <a:ext cx="347472" cy="320040"/>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12279" y="1417320"/>
            <a:ext cx="1508760" cy="914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12279" y="1417320"/>
            <a:ext cx="64008" cy="91440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13447" y="1554480"/>
            <a:ext cx="1143000" cy="320040"/>
          </a:xfrm>
          <a:prstGeom prst="rect">
            <a:avLst/>
          </a:prstGeom>
          <a:noFill/>
        </p:spPr>
        <p:txBody>
          <a:bodyPr wrap="none">
            <a:spAutoFit/>
          </a:bodyPr>
          <a:lstStyle/>
          <a:p>
            <a:pPr>
              <a:defRPr sz="1500" b="1">
                <a:solidFill>
                  <a:srgbClr val="34824B"/>
                </a:solidFill>
              </a:defRPr>
            </a:pPr>
            <a:r>
              <a:t>Hour 4</a:t>
            </a:r>
          </a:p>
        </p:txBody>
      </p:sp>
      <p:sp>
        <p:nvSpPr>
          <p:cNvPr id="27" name="TextBox 26"/>
          <p:cNvSpPr txBox="1"/>
          <p:nvPr/>
        </p:nvSpPr>
        <p:spPr>
          <a:xfrm>
            <a:off x="7013447" y="1947672"/>
            <a:ext cx="1143000" cy="256032"/>
          </a:xfrm>
          <a:prstGeom prst="rect">
            <a:avLst/>
          </a:prstGeom>
          <a:noFill/>
        </p:spPr>
        <p:txBody>
          <a:bodyPr wrap="square">
            <a:spAutoFit/>
          </a:bodyPr>
          <a:lstStyle/>
          <a:p>
            <a:pPr>
              <a:defRPr sz="1150">
                <a:solidFill>
                  <a:srgbClr val="232A34"/>
                </a:solidFill>
              </a:defRPr>
            </a:pPr>
            <a:r>
              <a:t>Feature vector</a:t>
            </a:r>
          </a:p>
        </p:txBody>
      </p:sp>
      <p:sp>
        <p:nvSpPr>
          <p:cNvPr id="28" name="Rounded Rectangle 27"/>
          <p:cNvSpPr/>
          <p:nvPr/>
        </p:nvSpPr>
        <p:spPr>
          <a:xfrm>
            <a:off x="8915400" y="1417320"/>
            <a:ext cx="2103120" cy="914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15400" y="1417320"/>
            <a:ext cx="64008" cy="91440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16568" y="1554480"/>
            <a:ext cx="1737360" cy="320040"/>
          </a:xfrm>
          <a:prstGeom prst="rect">
            <a:avLst/>
          </a:prstGeom>
          <a:noFill/>
        </p:spPr>
        <p:txBody>
          <a:bodyPr wrap="none">
            <a:spAutoFit/>
          </a:bodyPr>
          <a:lstStyle/>
          <a:p>
            <a:pPr>
              <a:defRPr sz="1500" b="1">
                <a:solidFill>
                  <a:srgbClr val="DC782D"/>
                </a:solidFill>
              </a:defRPr>
            </a:pPr>
            <a:r>
              <a:t>LSTM output</a:t>
            </a:r>
          </a:p>
        </p:txBody>
      </p:sp>
      <p:sp>
        <p:nvSpPr>
          <p:cNvPr id="31" name="TextBox 30"/>
          <p:cNvSpPr txBox="1"/>
          <p:nvPr/>
        </p:nvSpPr>
        <p:spPr>
          <a:xfrm>
            <a:off x="9116568" y="1947672"/>
            <a:ext cx="1737360" cy="256032"/>
          </a:xfrm>
          <a:prstGeom prst="rect">
            <a:avLst/>
          </a:prstGeom>
          <a:noFill/>
        </p:spPr>
        <p:txBody>
          <a:bodyPr wrap="square">
            <a:spAutoFit/>
          </a:bodyPr>
          <a:lstStyle/>
          <a:p>
            <a:pPr>
              <a:defRPr sz="1150">
                <a:solidFill>
                  <a:srgbClr val="232A34"/>
                </a:solidFill>
              </a:defRPr>
            </a:pPr>
            <a:r>
              <a:t>Next-hour volume</a:t>
            </a:r>
          </a:p>
        </p:txBody>
      </p:sp>
      <p:sp>
        <p:nvSpPr>
          <p:cNvPr id="32" name="Rounded Rectangle 31"/>
          <p:cNvSpPr/>
          <p:nvPr/>
        </p:nvSpPr>
        <p:spPr>
          <a:xfrm>
            <a:off x="685800" y="2788920"/>
            <a:ext cx="3337560" cy="214884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800" y="2788920"/>
            <a:ext cx="64008" cy="214884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86968" y="2926079"/>
            <a:ext cx="2971800" cy="320040"/>
          </a:xfrm>
          <a:prstGeom prst="rect">
            <a:avLst/>
          </a:prstGeom>
          <a:noFill/>
        </p:spPr>
        <p:txBody>
          <a:bodyPr wrap="none">
            <a:spAutoFit/>
          </a:bodyPr>
          <a:lstStyle/>
          <a:p>
            <a:pPr>
              <a:defRPr sz="1500" b="1">
                <a:solidFill>
                  <a:srgbClr val="2D63BE"/>
                </a:solidFill>
              </a:defRPr>
            </a:pPr>
            <a:r>
              <a:t>Input</a:t>
            </a:r>
          </a:p>
        </p:txBody>
      </p:sp>
      <p:sp>
        <p:nvSpPr>
          <p:cNvPr id="35" name="TextBox 34"/>
          <p:cNvSpPr txBox="1"/>
          <p:nvPr/>
        </p:nvSpPr>
        <p:spPr>
          <a:xfrm>
            <a:off x="886968" y="3319272"/>
            <a:ext cx="2971800" cy="1490472"/>
          </a:xfrm>
          <a:prstGeom prst="rect">
            <a:avLst/>
          </a:prstGeom>
          <a:noFill/>
        </p:spPr>
        <p:txBody>
          <a:bodyPr wrap="square">
            <a:spAutoFit/>
          </a:bodyPr>
          <a:lstStyle/>
          <a:p>
            <a:pPr>
              <a:defRPr sz="1150">
                <a:solidFill>
                  <a:srgbClr val="232A34"/>
                </a:solidFill>
              </a:defRPr>
            </a:pPr>
            <a:r>
              <a:t>Sequence length: 24</a:t>
            </a:r>
            <a:br/>
            <a:r>
              <a:t>Features per time step: 22</a:t>
            </a:r>
            <a:br/>
            <a:r>
              <a:t>Chronological continuous segments used to avoid crossing missing-time gaps.</a:t>
            </a:r>
          </a:p>
        </p:txBody>
      </p:sp>
      <p:sp>
        <p:nvSpPr>
          <p:cNvPr id="36" name="Rounded Rectangle 35"/>
          <p:cNvSpPr/>
          <p:nvPr/>
        </p:nvSpPr>
        <p:spPr>
          <a:xfrm>
            <a:off x="4343400" y="2788920"/>
            <a:ext cx="3337560" cy="214884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343400" y="2788920"/>
            <a:ext cx="64008" cy="214884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44568" y="2926079"/>
            <a:ext cx="2971800" cy="320040"/>
          </a:xfrm>
          <a:prstGeom prst="rect">
            <a:avLst/>
          </a:prstGeom>
          <a:noFill/>
        </p:spPr>
        <p:txBody>
          <a:bodyPr wrap="none">
            <a:spAutoFit/>
          </a:bodyPr>
          <a:lstStyle/>
          <a:p>
            <a:pPr>
              <a:defRPr sz="1500" b="1">
                <a:solidFill>
                  <a:srgbClr val="34824B"/>
                </a:solidFill>
              </a:defRPr>
            </a:pPr>
            <a:r>
              <a:t>Architecture</a:t>
            </a:r>
          </a:p>
        </p:txBody>
      </p:sp>
      <p:sp>
        <p:nvSpPr>
          <p:cNvPr id="39" name="TextBox 38"/>
          <p:cNvSpPr txBox="1"/>
          <p:nvPr/>
        </p:nvSpPr>
        <p:spPr>
          <a:xfrm>
            <a:off x="4544568" y="3319272"/>
            <a:ext cx="2971800" cy="1490472"/>
          </a:xfrm>
          <a:prstGeom prst="rect">
            <a:avLst/>
          </a:prstGeom>
          <a:noFill/>
        </p:spPr>
        <p:txBody>
          <a:bodyPr wrap="square">
            <a:spAutoFit/>
          </a:bodyPr>
          <a:lstStyle/>
          <a:p>
            <a:pPr>
              <a:defRPr sz="1150">
                <a:solidFill>
                  <a:srgbClr val="232A34"/>
                </a:solidFill>
              </a:defRPr>
            </a:pPr>
            <a:r>
              <a:t>LSTM(64)</a:t>
            </a:r>
            <a:br/>
            <a:r>
              <a:t>Dropout(0.2)</a:t>
            </a:r>
            <a:br/>
            <a:r>
              <a:t>Dense(32, ReLU)</a:t>
            </a:r>
            <a:br/>
            <a:r>
              <a:t>Dense(1)</a:t>
            </a:r>
            <a:br/>
            <a:r>
              <a:t>Optimizer: Adam • Loss: MSE</a:t>
            </a:r>
          </a:p>
        </p:txBody>
      </p:sp>
      <p:sp>
        <p:nvSpPr>
          <p:cNvPr id="40" name="Rounded Rectangle 39"/>
          <p:cNvSpPr/>
          <p:nvPr/>
        </p:nvSpPr>
        <p:spPr>
          <a:xfrm>
            <a:off x="8001000" y="2788920"/>
            <a:ext cx="3337560" cy="214884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001000" y="2788920"/>
            <a:ext cx="64008" cy="214884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02168" y="2926079"/>
            <a:ext cx="2971800" cy="320040"/>
          </a:xfrm>
          <a:prstGeom prst="rect">
            <a:avLst/>
          </a:prstGeom>
          <a:noFill/>
        </p:spPr>
        <p:txBody>
          <a:bodyPr wrap="none">
            <a:spAutoFit/>
          </a:bodyPr>
          <a:lstStyle/>
          <a:p>
            <a:pPr>
              <a:defRPr sz="1500" b="1">
                <a:solidFill>
                  <a:srgbClr val="734BA5"/>
                </a:solidFill>
              </a:defRPr>
            </a:pPr>
            <a:r>
              <a:t>Sequence datasets</a:t>
            </a:r>
          </a:p>
        </p:txBody>
      </p:sp>
      <p:sp>
        <p:nvSpPr>
          <p:cNvPr id="43" name="TextBox 42"/>
          <p:cNvSpPr txBox="1"/>
          <p:nvPr/>
        </p:nvSpPr>
        <p:spPr>
          <a:xfrm>
            <a:off x="8202168" y="3319272"/>
            <a:ext cx="2971800" cy="1490472"/>
          </a:xfrm>
          <a:prstGeom prst="rect">
            <a:avLst/>
          </a:prstGeom>
          <a:noFill/>
        </p:spPr>
        <p:txBody>
          <a:bodyPr wrap="square">
            <a:spAutoFit/>
          </a:bodyPr>
          <a:lstStyle/>
          <a:p>
            <a:pPr>
              <a:defRPr sz="1150">
                <a:solidFill>
                  <a:srgbClr val="232A34"/>
                </a:solidFill>
              </a:defRPr>
            </a:pPr>
            <a:r>
              <a:t>Train: 17,251 sequences</a:t>
            </a:r>
            <a:br/>
            <a:r>
              <a:t>Validation: 5,771</a:t>
            </a:r>
            <a:br/>
            <a:r>
              <a:t>Test: 5,801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3498650" cy="507831"/>
          </a:xfrm>
          <a:prstGeom prst="rect">
            <a:avLst/>
          </a:prstGeom>
          <a:noFill/>
        </p:spPr>
        <p:txBody>
          <a:bodyPr wrap="none">
            <a:spAutoFit/>
          </a:bodyPr>
          <a:lstStyle/>
          <a:p>
            <a:pPr>
              <a:defRPr sz="2700" b="1">
                <a:solidFill>
                  <a:srgbClr val="143769"/>
                </a:solidFill>
                <a:latin typeface="Aptos Display"/>
              </a:defRPr>
            </a:pPr>
            <a:r>
              <a:rPr dirty="0"/>
              <a:t>1</a:t>
            </a:r>
            <a:r>
              <a:rPr lang="en-US" dirty="0"/>
              <a:t>4</a:t>
            </a:r>
            <a:r>
              <a:rPr dirty="0"/>
              <a:t>. LSTM Performance</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Final test-set performance from the Deep Learning notebook</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13</a:t>
            </a:r>
          </a:p>
        </p:txBody>
      </p:sp>
      <p:sp>
        <p:nvSpPr>
          <p:cNvPr id="9" name="Rounded Rectangle 8"/>
          <p:cNvSpPr/>
          <p:nvPr/>
        </p:nvSpPr>
        <p:spPr>
          <a:xfrm>
            <a:off x="68580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399031"/>
            <a:ext cx="2157984" cy="256032"/>
          </a:xfrm>
          <a:prstGeom prst="rect">
            <a:avLst/>
          </a:prstGeom>
          <a:noFill/>
        </p:spPr>
        <p:txBody>
          <a:bodyPr wrap="none">
            <a:spAutoFit/>
          </a:bodyPr>
          <a:lstStyle/>
          <a:p>
            <a:pPr algn="ctr">
              <a:defRPr sz="1050">
                <a:solidFill>
                  <a:srgbClr val="646E7D"/>
                </a:solidFill>
              </a:defRPr>
            </a:pPr>
            <a:r>
              <a:t>MAE</a:t>
            </a:r>
          </a:p>
        </p:txBody>
      </p:sp>
      <p:sp>
        <p:nvSpPr>
          <p:cNvPr id="11" name="TextBox 10"/>
          <p:cNvSpPr txBox="1"/>
          <p:nvPr/>
        </p:nvSpPr>
        <p:spPr>
          <a:xfrm>
            <a:off x="795528" y="1673351"/>
            <a:ext cx="2157984" cy="411480"/>
          </a:xfrm>
          <a:prstGeom prst="rect">
            <a:avLst/>
          </a:prstGeom>
          <a:noFill/>
        </p:spPr>
        <p:txBody>
          <a:bodyPr wrap="none">
            <a:spAutoFit/>
          </a:bodyPr>
          <a:lstStyle/>
          <a:p>
            <a:pPr algn="ctr">
              <a:defRPr sz="2100" b="1">
                <a:solidFill>
                  <a:srgbClr val="2D63BE"/>
                </a:solidFill>
              </a:defRPr>
            </a:pPr>
            <a:r>
              <a:t>300.44</a:t>
            </a:r>
          </a:p>
        </p:txBody>
      </p:sp>
      <p:sp>
        <p:nvSpPr>
          <p:cNvPr id="12" name="Rounded Rectangle 11"/>
          <p:cNvSpPr/>
          <p:nvPr/>
        </p:nvSpPr>
        <p:spPr>
          <a:xfrm>
            <a:off x="333756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47288" y="1399031"/>
            <a:ext cx="2157984" cy="256032"/>
          </a:xfrm>
          <a:prstGeom prst="rect">
            <a:avLst/>
          </a:prstGeom>
          <a:noFill/>
        </p:spPr>
        <p:txBody>
          <a:bodyPr wrap="none">
            <a:spAutoFit/>
          </a:bodyPr>
          <a:lstStyle/>
          <a:p>
            <a:pPr algn="ctr">
              <a:defRPr sz="1050">
                <a:solidFill>
                  <a:srgbClr val="646E7D"/>
                </a:solidFill>
              </a:defRPr>
            </a:pPr>
            <a:r>
              <a:t>MSE</a:t>
            </a:r>
          </a:p>
        </p:txBody>
      </p:sp>
      <p:sp>
        <p:nvSpPr>
          <p:cNvPr id="14" name="TextBox 13"/>
          <p:cNvSpPr txBox="1"/>
          <p:nvPr/>
        </p:nvSpPr>
        <p:spPr>
          <a:xfrm>
            <a:off x="3447288" y="1673351"/>
            <a:ext cx="2157984" cy="411480"/>
          </a:xfrm>
          <a:prstGeom prst="rect">
            <a:avLst/>
          </a:prstGeom>
          <a:noFill/>
        </p:spPr>
        <p:txBody>
          <a:bodyPr wrap="none">
            <a:spAutoFit/>
          </a:bodyPr>
          <a:lstStyle/>
          <a:p>
            <a:pPr algn="ctr">
              <a:defRPr sz="2100" b="1">
                <a:solidFill>
                  <a:srgbClr val="2D63BE"/>
                </a:solidFill>
              </a:defRPr>
            </a:pPr>
            <a:r>
              <a:t>212,013.74</a:t>
            </a:r>
          </a:p>
        </p:txBody>
      </p:sp>
      <p:sp>
        <p:nvSpPr>
          <p:cNvPr id="15" name="Rounded Rectangle 14"/>
          <p:cNvSpPr/>
          <p:nvPr/>
        </p:nvSpPr>
        <p:spPr>
          <a:xfrm>
            <a:off x="598932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99048" y="1399031"/>
            <a:ext cx="2157984" cy="256032"/>
          </a:xfrm>
          <a:prstGeom prst="rect">
            <a:avLst/>
          </a:prstGeom>
          <a:noFill/>
        </p:spPr>
        <p:txBody>
          <a:bodyPr wrap="none">
            <a:spAutoFit/>
          </a:bodyPr>
          <a:lstStyle/>
          <a:p>
            <a:pPr algn="ctr">
              <a:defRPr sz="1050">
                <a:solidFill>
                  <a:srgbClr val="646E7D"/>
                </a:solidFill>
              </a:defRPr>
            </a:pPr>
            <a:r>
              <a:t>RMSE</a:t>
            </a:r>
          </a:p>
        </p:txBody>
      </p:sp>
      <p:sp>
        <p:nvSpPr>
          <p:cNvPr id="17" name="TextBox 16"/>
          <p:cNvSpPr txBox="1"/>
          <p:nvPr/>
        </p:nvSpPr>
        <p:spPr>
          <a:xfrm>
            <a:off x="6099048" y="1673351"/>
            <a:ext cx="2157984" cy="411480"/>
          </a:xfrm>
          <a:prstGeom prst="rect">
            <a:avLst/>
          </a:prstGeom>
          <a:noFill/>
        </p:spPr>
        <p:txBody>
          <a:bodyPr wrap="none">
            <a:spAutoFit/>
          </a:bodyPr>
          <a:lstStyle/>
          <a:p>
            <a:pPr algn="ctr">
              <a:defRPr sz="2100" b="1">
                <a:solidFill>
                  <a:srgbClr val="2D63BE"/>
                </a:solidFill>
              </a:defRPr>
            </a:pPr>
            <a:r>
              <a:t>460.45</a:t>
            </a:r>
          </a:p>
        </p:txBody>
      </p:sp>
      <p:sp>
        <p:nvSpPr>
          <p:cNvPr id="18" name="Rounded Rectangle 17"/>
          <p:cNvSpPr/>
          <p:nvPr/>
        </p:nvSpPr>
        <p:spPr>
          <a:xfrm>
            <a:off x="8641080" y="1280160"/>
            <a:ext cx="237744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50807" y="1399031"/>
            <a:ext cx="2157984" cy="256032"/>
          </a:xfrm>
          <a:prstGeom prst="rect">
            <a:avLst/>
          </a:prstGeom>
          <a:noFill/>
        </p:spPr>
        <p:txBody>
          <a:bodyPr wrap="none">
            <a:spAutoFit/>
          </a:bodyPr>
          <a:lstStyle/>
          <a:p>
            <a:pPr algn="ctr">
              <a:defRPr sz="1050">
                <a:solidFill>
                  <a:srgbClr val="646E7D"/>
                </a:solidFill>
              </a:defRPr>
            </a:pPr>
            <a:r>
              <a:t>R²</a:t>
            </a:r>
          </a:p>
        </p:txBody>
      </p:sp>
      <p:sp>
        <p:nvSpPr>
          <p:cNvPr id="20" name="TextBox 19"/>
          <p:cNvSpPr txBox="1"/>
          <p:nvPr/>
        </p:nvSpPr>
        <p:spPr>
          <a:xfrm>
            <a:off x="8750807" y="1673351"/>
            <a:ext cx="2157984" cy="411480"/>
          </a:xfrm>
          <a:prstGeom prst="rect">
            <a:avLst/>
          </a:prstGeom>
          <a:noFill/>
        </p:spPr>
        <p:txBody>
          <a:bodyPr wrap="none">
            <a:spAutoFit/>
          </a:bodyPr>
          <a:lstStyle/>
          <a:p>
            <a:pPr algn="ctr">
              <a:defRPr sz="2100" b="1">
                <a:solidFill>
                  <a:srgbClr val="34824B"/>
                </a:solidFill>
              </a:defRPr>
            </a:pPr>
            <a:r>
              <a:t>0.9460</a:t>
            </a:r>
          </a:p>
        </p:txBody>
      </p:sp>
      <p:pic>
        <p:nvPicPr>
          <p:cNvPr id="21" name="Picture 20" descr="dl_104.png"/>
          <p:cNvPicPr>
            <a:picLocks noChangeAspect="1"/>
          </p:cNvPicPr>
          <p:nvPr/>
        </p:nvPicPr>
        <p:blipFill>
          <a:blip r:embed="rId2"/>
          <a:stretch>
            <a:fillRect/>
          </a:stretch>
        </p:blipFill>
        <p:spPr>
          <a:xfrm>
            <a:off x="685800" y="2748520"/>
            <a:ext cx="5303520" cy="2458239"/>
          </a:xfrm>
          <a:prstGeom prst="rect">
            <a:avLst/>
          </a:prstGeom>
        </p:spPr>
      </p:pic>
      <p:pic>
        <p:nvPicPr>
          <p:cNvPr id="22" name="Picture 21" descr="dl_105.png"/>
          <p:cNvPicPr>
            <a:picLocks noChangeAspect="1"/>
          </p:cNvPicPr>
          <p:nvPr/>
        </p:nvPicPr>
        <p:blipFill>
          <a:blip r:embed="rId3"/>
          <a:stretch>
            <a:fillRect/>
          </a:stretch>
        </p:blipFill>
        <p:spPr>
          <a:xfrm>
            <a:off x="7493830" y="2651760"/>
            <a:ext cx="2660259" cy="2651760"/>
          </a:xfrm>
          <a:prstGeom prst="rect">
            <a:avLst/>
          </a:prstGeom>
        </p:spPr>
      </p:pic>
      <p:sp>
        <p:nvSpPr>
          <p:cNvPr id="23" name="Rounded Rectangle 22"/>
          <p:cNvSpPr/>
          <p:nvPr/>
        </p:nvSpPr>
        <p:spPr>
          <a:xfrm>
            <a:off x="777240" y="5532120"/>
            <a:ext cx="10607040" cy="6400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77240" y="5532120"/>
            <a:ext cx="64008" cy="6400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8408" y="5669280"/>
            <a:ext cx="10241280" cy="320040"/>
          </a:xfrm>
          <a:prstGeom prst="rect">
            <a:avLst/>
          </a:prstGeom>
          <a:noFill/>
        </p:spPr>
        <p:txBody>
          <a:bodyPr wrap="none">
            <a:spAutoFit/>
          </a:bodyPr>
          <a:lstStyle/>
          <a:p>
            <a:pPr>
              <a:defRPr sz="1500" b="1">
                <a:solidFill>
                  <a:srgbClr val="34824B"/>
                </a:solidFill>
              </a:defRPr>
            </a:pPr>
            <a:r>
              <a:t>Result</a:t>
            </a:r>
          </a:p>
        </p:txBody>
      </p:sp>
      <p:sp>
        <p:nvSpPr>
          <p:cNvPr id="26" name="TextBox 25"/>
          <p:cNvSpPr txBox="1"/>
          <p:nvPr/>
        </p:nvSpPr>
        <p:spPr>
          <a:xfrm>
            <a:off x="978408" y="6062472"/>
            <a:ext cx="10241280" cy="0"/>
          </a:xfrm>
          <a:prstGeom prst="rect">
            <a:avLst/>
          </a:prstGeom>
          <a:noFill/>
        </p:spPr>
        <p:txBody>
          <a:bodyPr wrap="square">
            <a:spAutoFit/>
          </a:bodyPr>
          <a:lstStyle/>
          <a:p>
            <a:pPr>
              <a:defRPr sz="1150">
                <a:solidFill>
                  <a:srgbClr val="232A34"/>
                </a:solidFill>
              </a:defRPr>
            </a:pPr>
            <a:r>
              <a:t>LSTM captured temporal dependencies effectively and substantially improved over the ANN baseline.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15. ML vs DL: What Each Model Contributes</a:t>
            </a:r>
          </a:p>
        </p:txBody>
      </p:sp>
      <p:sp>
        <p:nvSpPr>
          <p:cNvPr id="5" name="Rectangle 4"/>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7" name="TextBox 6"/>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16</a:t>
            </a:r>
          </a:p>
        </p:txBody>
      </p:sp>
      <p:sp>
        <p:nvSpPr>
          <p:cNvPr id="8" name="Rounded Rectangle 7"/>
          <p:cNvSpPr/>
          <p:nvPr/>
        </p:nvSpPr>
        <p:spPr>
          <a:xfrm>
            <a:off x="640080" y="1234440"/>
            <a:ext cx="5257800" cy="356616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234440"/>
            <a:ext cx="64008" cy="356616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371600"/>
            <a:ext cx="4892040" cy="320040"/>
          </a:xfrm>
          <a:prstGeom prst="rect">
            <a:avLst/>
          </a:prstGeom>
          <a:noFill/>
        </p:spPr>
        <p:txBody>
          <a:bodyPr wrap="none">
            <a:spAutoFit/>
          </a:bodyPr>
          <a:lstStyle/>
          <a:p>
            <a:pPr>
              <a:defRPr sz="1500" b="1">
                <a:solidFill>
                  <a:srgbClr val="DC782D"/>
                </a:solidFill>
              </a:defRPr>
            </a:pPr>
            <a:r>
              <a:t>XGBoost — tabular prediction</a:t>
            </a:r>
          </a:p>
        </p:txBody>
      </p:sp>
      <p:sp>
        <p:nvSpPr>
          <p:cNvPr id="11" name="TextBox 10"/>
          <p:cNvSpPr txBox="1"/>
          <p:nvPr/>
        </p:nvSpPr>
        <p:spPr>
          <a:xfrm>
            <a:off x="841247" y="1764792"/>
            <a:ext cx="4892040" cy="2907791"/>
          </a:xfrm>
          <a:prstGeom prst="rect">
            <a:avLst/>
          </a:prstGeom>
          <a:noFill/>
        </p:spPr>
        <p:txBody>
          <a:bodyPr wrap="square">
            <a:spAutoFit/>
          </a:bodyPr>
          <a:lstStyle/>
          <a:p>
            <a:pPr>
              <a:defRPr sz="1150">
                <a:solidFill>
                  <a:srgbClr val="232A34"/>
                </a:solidFill>
              </a:defRPr>
            </a:pPr>
            <a:r>
              <a:t>• Uses engineered contextual features</a:t>
            </a:r>
            <a:br/>
            <a:r>
              <a:t>• Strong performance on the cleaned ML dataset</a:t>
            </a:r>
            <a:br/>
            <a:r>
              <a:t>• Best test R² among the evaluated ML regressors: 0.9571</a:t>
            </a:r>
            <a:br/>
            <a:r>
              <a:t>• Selected for the direct ML prediction endpoint</a:t>
            </a:r>
          </a:p>
        </p:txBody>
      </p:sp>
      <p:sp>
        <p:nvSpPr>
          <p:cNvPr id="12" name="Rounded Rectangle 11"/>
          <p:cNvSpPr/>
          <p:nvPr/>
        </p:nvSpPr>
        <p:spPr>
          <a:xfrm>
            <a:off x="6263640" y="1234440"/>
            <a:ext cx="5257800" cy="356616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234440"/>
            <a:ext cx="64008" cy="356616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1371600"/>
            <a:ext cx="4892040" cy="320040"/>
          </a:xfrm>
          <a:prstGeom prst="rect">
            <a:avLst/>
          </a:prstGeom>
          <a:noFill/>
        </p:spPr>
        <p:txBody>
          <a:bodyPr wrap="none">
            <a:spAutoFit/>
          </a:bodyPr>
          <a:lstStyle/>
          <a:p>
            <a:pPr>
              <a:defRPr sz="1500" b="1">
                <a:solidFill>
                  <a:srgbClr val="34824B"/>
                </a:solidFill>
              </a:defRPr>
            </a:pPr>
            <a:r>
              <a:t>LSTM — sequential forecasting</a:t>
            </a:r>
          </a:p>
        </p:txBody>
      </p:sp>
      <p:sp>
        <p:nvSpPr>
          <p:cNvPr id="15" name="TextBox 14"/>
          <p:cNvSpPr txBox="1"/>
          <p:nvPr/>
        </p:nvSpPr>
        <p:spPr>
          <a:xfrm>
            <a:off x="6464807" y="1764792"/>
            <a:ext cx="4892040" cy="2907791"/>
          </a:xfrm>
          <a:prstGeom prst="rect">
            <a:avLst/>
          </a:prstGeom>
          <a:noFill/>
        </p:spPr>
        <p:txBody>
          <a:bodyPr wrap="square">
            <a:spAutoFit/>
          </a:bodyPr>
          <a:lstStyle/>
          <a:p>
            <a:pPr>
              <a:defRPr sz="1150">
                <a:solidFill>
                  <a:srgbClr val="232A34"/>
                </a:solidFill>
              </a:defRPr>
            </a:pPr>
            <a:r>
              <a:t>• Uses 24 consecutive observations</a:t>
            </a:r>
            <a:br/>
            <a:r>
              <a:t>• Learns temporal dependencies</a:t>
            </a:r>
            <a:br/>
            <a:r>
              <a:t>• Test R²: 0.9460</a:t>
            </a:r>
            <a:br/>
            <a:r>
              <a:t>• Selected as the deep-learning forecasting component</a:t>
            </a:r>
          </a:p>
        </p:txBody>
      </p:sp>
      <p:sp>
        <p:nvSpPr>
          <p:cNvPr id="16" name="Rounded Rectangle 15"/>
          <p:cNvSpPr/>
          <p:nvPr/>
        </p:nvSpPr>
        <p:spPr>
          <a:xfrm>
            <a:off x="2286000" y="5166360"/>
            <a:ext cx="7635240" cy="77724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286000" y="5166360"/>
            <a:ext cx="64008" cy="77724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87168" y="5303520"/>
            <a:ext cx="7269479" cy="320040"/>
          </a:xfrm>
          <a:prstGeom prst="rect">
            <a:avLst/>
          </a:prstGeom>
          <a:noFill/>
        </p:spPr>
        <p:txBody>
          <a:bodyPr wrap="none">
            <a:spAutoFit/>
          </a:bodyPr>
          <a:lstStyle/>
          <a:p>
            <a:pPr>
              <a:defRPr sz="1500" b="1">
                <a:solidFill>
                  <a:srgbClr val="143769"/>
                </a:solidFill>
              </a:defRPr>
            </a:pPr>
            <a:r>
              <a:t>Design decision</a:t>
            </a:r>
          </a:p>
        </p:txBody>
      </p:sp>
      <p:sp>
        <p:nvSpPr>
          <p:cNvPr id="19" name="TextBox 18"/>
          <p:cNvSpPr txBox="1"/>
          <p:nvPr/>
        </p:nvSpPr>
        <p:spPr>
          <a:xfrm>
            <a:off x="2487168" y="5696712"/>
            <a:ext cx="7269479" cy="749808"/>
          </a:xfrm>
          <a:prstGeom prst="rect">
            <a:avLst/>
          </a:prstGeom>
          <a:noFill/>
        </p:spPr>
        <p:txBody>
          <a:bodyPr wrap="square">
            <a:spAutoFit/>
          </a:bodyPr>
          <a:lstStyle/>
          <a:p>
            <a:pPr>
              <a:defRPr sz="1150">
                <a:solidFill>
                  <a:srgbClr val="232A34"/>
                </a:solidFill>
              </a:defRPr>
            </a:pPr>
            <a:r>
              <a:rPr sz="1000"/>
              <a:t>Use both: XGBoost for feature-based prediction and LSTM for sequence-based forecasting.</a:t>
            </a:r>
          </a:p>
          <a:p>
            <a:r>
              <a:rPr sz="1000"/>
              <a:t>ARIMA serves as a classical baseline; its test R² was -1.2751, weaker than the ANN and LSTM.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16. Generative AI Module — RAG Pipeline</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Final implemented prototype: knowledge-base retrieval + Llama 3.2</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17</a:t>
            </a:r>
          </a:p>
        </p:txBody>
      </p:sp>
      <p:sp>
        <p:nvSpPr>
          <p:cNvPr id="9" name="Rounded Rectangle 8"/>
          <p:cNvSpPr/>
          <p:nvPr/>
        </p:nvSpPr>
        <p:spPr>
          <a:xfrm>
            <a:off x="502920" y="1828800"/>
            <a:ext cx="1691640" cy="2057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828800"/>
            <a:ext cx="64008" cy="205740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965960"/>
            <a:ext cx="1325880" cy="320040"/>
          </a:xfrm>
          <a:prstGeom prst="rect">
            <a:avLst/>
          </a:prstGeom>
          <a:noFill/>
        </p:spPr>
        <p:txBody>
          <a:bodyPr wrap="none">
            <a:spAutoFit/>
          </a:bodyPr>
          <a:lstStyle/>
          <a:p>
            <a:pPr>
              <a:defRPr sz="1500" b="1">
                <a:solidFill>
                  <a:srgbClr val="2D63BE"/>
                </a:solidFill>
              </a:defRPr>
            </a:pPr>
            <a:r>
              <a:t>Knowledge base</a:t>
            </a:r>
          </a:p>
        </p:txBody>
      </p:sp>
      <p:sp>
        <p:nvSpPr>
          <p:cNvPr id="12" name="TextBox 11"/>
          <p:cNvSpPr txBox="1"/>
          <p:nvPr/>
        </p:nvSpPr>
        <p:spPr>
          <a:xfrm>
            <a:off x="704088" y="2359152"/>
            <a:ext cx="1325880" cy="1399032"/>
          </a:xfrm>
          <a:prstGeom prst="rect">
            <a:avLst/>
          </a:prstGeom>
          <a:noFill/>
        </p:spPr>
        <p:txBody>
          <a:bodyPr wrap="square">
            <a:spAutoFit/>
          </a:bodyPr>
          <a:lstStyle/>
          <a:p>
            <a:pPr>
              <a:defRPr sz="1150">
                <a:solidFill>
                  <a:srgbClr val="232A34"/>
                </a:solidFill>
              </a:defRPr>
            </a:pPr>
            <a:r>
              <a:t>24,247 characters</a:t>
            </a:r>
            <a:br/>
            <a:r>
              <a:t>291 paragraphs</a:t>
            </a:r>
          </a:p>
        </p:txBody>
      </p:sp>
      <p:sp>
        <p:nvSpPr>
          <p:cNvPr id="13" name="Right Arrow 12"/>
          <p:cNvSpPr/>
          <p:nvPr/>
        </p:nvSpPr>
        <p:spPr>
          <a:xfrm>
            <a:off x="2221991" y="2587752"/>
            <a:ext cx="228600" cy="320040"/>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441448" y="1828800"/>
            <a:ext cx="1691640" cy="2057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41448" y="1828800"/>
            <a:ext cx="64008" cy="205740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42616" y="1965960"/>
            <a:ext cx="1325880" cy="320040"/>
          </a:xfrm>
          <a:prstGeom prst="rect">
            <a:avLst/>
          </a:prstGeom>
          <a:noFill/>
        </p:spPr>
        <p:txBody>
          <a:bodyPr wrap="none">
            <a:spAutoFit/>
          </a:bodyPr>
          <a:lstStyle/>
          <a:p>
            <a:pPr>
              <a:defRPr sz="1500" b="1">
                <a:solidFill>
                  <a:srgbClr val="34824B"/>
                </a:solidFill>
              </a:defRPr>
            </a:pPr>
            <a:r>
              <a:t>Chunking</a:t>
            </a:r>
          </a:p>
        </p:txBody>
      </p:sp>
      <p:sp>
        <p:nvSpPr>
          <p:cNvPr id="17" name="TextBox 16"/>
          <p:cNvSpPr txBox="1"/>
          <p:nvPr/>
        </p:nvSpPr>
        <p:spPr>
          <a:xfrm>
            <a:off x="2642616" y="2359152"/>
            <a:ext cx="1325880" cy="1399032"/>
          </a:xfrm>
          <a:prstGeom prst="rect">
            <a:avLst/>
          </a:prstGeom>
          <a:noFill/>
        </p:spPr>
        <p:txBody>
          <a:bodyPr wrap="square">
            <a:spAutoFit/>
          </a:bodyPr>
          <a:lstStyle/>
          <a:p>
            <a:pPr>
              <a:defRPr sz="1150">
                <a:solidFill>
                  <a:srgbClr val="232A34"/>
                </a:solidFill>
              </a:defRPr>
            </a:pPr>
            <a:r>
              <a:t>20 chunks</a:t>
            </a:r>
            <a:br/>
            <a:r>
              <a:t>1500 chars / 200 overlap</a:t>
            </a:r>
          </a:p>
        </p:txBody>
      </p:sp>
      <p:sp>
        <p:nvSpPr>
          <p:cNvPr id="18" name="Right Arrow 17"/>
          <p:cNvSpPr/>
          <p:nvPr/>
        </p:nvSpPr>
        <p:spPr>
          <a:xfrm>
            <a:off x="4160520" y="2587752"/>
            <a:ext cx="228600" cy="320040"/>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379976" y="1828800"/>
            <a:ext cx="1691640" cy="2057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79976" y="1828800"/>
            <a:ext cx="64008" cy="205740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81144" y="1965960"/>
            <a:ext cx="1325880" cy="320040"/>
          </a:xfrm>
          <a:prstGeom prst="rect">
            <a:avLst/>
          </a:prstGeom>
          <a:noFill/>
        </p:spPr>
        <p:txBody>
          <a:bodyPr wrap="none">
            <a:spAutoFit/>
          </a:bodyPr>
          <a:lstStyle/>
          <a:p>
            <a:pPr>
              <a:defRPr sz="1500" b="1">
                <a:solidFill>
                  <a:srgbClr val="734BA5"/>
                </a:solidFill>
              </a:defRPr>
            </a:pPr>
            <a:r>
              <a:t>TF-IDF</a:t>
            </a:r>
          </a:p>
        </p:txBody>
      </p:sp>
      <p:sp>
        <p:nvSpPr>
          <p:cNvPr id="22" name="TextBox 21"/>
          <p:cNvSpPr txBox="1"/>
          <p:nvPr/>
        </p:nvSpPr>
        <p:spPr>
          <a:xfrm>
            <a:off x="4581144" y="2359152"/>
            <a:ext cx="1325880" cy="1399032"/>
          </a:xfrm>
          <a:prstGeom prst="rect">
            <a:avLst/>
          </a:prstGeom>
          <a:noFill/>
        </p:spPr>
        <p:txBody>
          <a:bodyPr wrap="square">
            <a:spAutoFit/>
          </a:bodyPr>
          <a:lstStyle/>
          <a:p>
            <a:pPr>
              <a:defRPr sz="1150">
                <a:solidFill>
                  <a:srgbClr val="232A34"/>
                </a:solidFill>
              </a:defRPr>
            </a:pPr>
            <a:r>
              <a:t>20 × 628 sparse vectors</a:t>
            </a:r>
          </a:p>
        </p:txBody>
      </p:sp>
      <p:sp>
        <p:nvSpPr>
          <p:cNvPr id="23" name="Right Arrow 22"/>
          <p:cNvSpPr/>
          <p:nvPr/>
        </p:nvSpPr>
        <p:spPr>
          <a:xfrm>
            <a:off x="6099048" y="2587752"/>
            <a:ext cx="228600" cy="320040"/>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18504" y="1828800"/>
            <a:ext cx="1691640" cy="2057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318504" y="1828800"/>
            <a:ext cx="64008" cy="205740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19672" y="1965960"/>
            <a:ext cx="1325880" cy="320040"/>
          </a:xfrm>
          <a:prstGeom prst="rect">
            <a:avLst/>
          </a:prstGeom>
          <a:noFill/>
        </p:spPr>
        <p:txBody>
          <a:bodyPr wrap="none">
            <a:spAutoFit/>
          </a:bodyPr>
          <a:lstStyle/>
          <a:p>
            <a:pPr>
              <a:defRPr sz="1500" b="1">
                <a:solidFill>
                  <a:srgbClr val="DC782D"/>
                </a:solidFill>
              </a:defRPr>
            </a:pPr>
            <a:r>
              <a:t>Retrieval</a:t>
            </a:r>
          </a:p>
        </p:txBody>
      </p:sp>
      <p:sp>
        <p:nvSpPr>
          <p:cNvPr id="27" name="TextBox 26"/>
          <p:cNvSpPr txBox="1"/>
          <p:nvPr/>
        </p:nvSpPr>
        <p:spPr>
          <a:xfrm>
            <a:off x="6519672" y="2359152"/>
            <a:ext cx="1325880" cy="1399032"/>
          </a:xfrm>
          <a:prstGeom prst="rect">
            <a:avLst/>
          </a:prstGeom>
          <a:noFill/>
        </p:spPr>
        <p:txBody>
          <a:bodyPr wrap="square">
            <a:spAutoFit/>
          </a:bodyPr>
          <a:lstStyle/>
          <a:p>
            <a:pPr>
              <a:defRPr sz="1150">
                <a:solidFill>
                  <a:srgbClr val="232A34"/>
                </a:solidFill>
              </a:defRPr>
            </a:pPr>
            <a:r>
              <a:t>Cosine similarity</a:t>
            </a:r>
            <a:br/>
            <a:r>
              <a:t>Top-3 chunks</a:t>
            </a:r>
          </a:p>
        </p:txBody>
      </p:sp>
      <p:sp>
        <p:nvSpPr>
          <p:cNvPr id="28" name="Right Arrow 27"/>
          <p:cNvSpPr/>
          <p:nvPr/>
        </p:nvSpPr>
        <p:spPr>
          <a:xfrm>
            <a:off x="8037575" y="2587752"/>
            <a:ext cx="228600" cy="320040"/>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257032" y="1828800"/>
            <a:ext cx="1691640" cy="2057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257032" y="1828800"/>
            <a:ext cx="64008" cy="2057400"/>
          </a:xfrm>
          <a:prstGeom prst="rect">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58200" y="1965960"/>
            <a:ext cx="1325880" cy="320040"/>
          </a:xfrm>
          <a:prstGeom prst="rect">
            <a:avLst/>
          </a:prstGeom>
          <a:noFill/>
        </p:spPr>
        <p:txBody>
          <a:bodyPr wrap="none">
            <a:spAutoFit/>
          </a:bodyPr>
          <a:lstStyle/>
          <a:p>
            <a:pPr>
              <a:defRPr sz="1500" b="1">
                <a:solidFill>
                  <a:srgbClr val="349AB4"/>
                </a:solidFill>
              </a:defRPr>
            </a:pPr>
            <a:r>
              <a:t>Prompt</a:t>
            </a:r>
          </a:p>
        </p:txBody>
      </p:sp>
      <p:sp>
        <p:nvSpPr>
          <p:cNvPr id="32" name="TextBox 31"/>
          <p:cNvSpPr txBox="1"/>
          <p:nvPr/>
        </p:nvSpPr>
        <p:spPr>
          <a:xfrm>
            <a:off x="8458200" y="2359152"/>
            <a:ext cx="1325880" cy="1399032"/>
          </a:xfrm>
          <a:prstGeom prst="rect">
            <a:avLst/>
          </a:prstGeom>
          <a:noFill/>
        </p:spPr>
        <p:txBody>
          <a:bodyPr wrap="square">
            <a:spAutoFit/>
          </a:bodyPr>
          <a:lstStyle/>
          <a:p>
            <a:pPr>
              <a:defRPr sz="1150">
                <a:solidFill>
                  <a:srgbClr val="232A34"/>
                </a:solidFill>
              </a:defRPr>
            </a:pPr>
            <a:r>
              <a:t>Retrieved context + question</a:t>
            </a:r>
            <a:br/>
            <a:r>
              <a:t>Safety / grounding rules</a:t>
            </a:r>
          </a:p>
        </p:txBody>
      </p:sp>
      <p:sp>
        <p:nvSpPr>
          <p:cNvPr id="33" name="Right Arrow 32"/>
          <p:cNvSpPr/>
          <p:nvPr/>
        </p:nvSpPr>
        <p:spPr>
          <a:xfrm>
            <a:off x="9976104" y="2587752"/>
            <a:ext cx="228600" cy="320040"/>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0195560" y="1828800"/>
            <a:ext cx="1691640" cy="20574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0195560" y="1828800"/>
            <a:ext cx="64008" cy="2057400"/>
          </a:xfrm>
          <a:prstGeom prst="rect">
            <a:avLst/>
          </a:prstGeom>
          <a:solidFill>
            <a:srgbClr val="BE3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396728" y="1965960"/>
            <a:ext cx="1325880" cy="320040"/>
          </a:xfrm>
          <a:prstGeom prst="rect">
            <a:avLst/>
          </a:prstGeom>
          <a:noFill/>
        </p:spPr>
        <p:txBody>
          <a:bodyPr wrap="none">
            <a:spAutoFit/>
          </a:bodyPr>
          <a:lstStyle/>
          <a:p>
            <a:pPr>
              <a:defRPr sz="1500" b="1">
                <a:solidFill>
                  <a:srgbClr val="BE3741"/>
                </a:solidFill>
              </a:defRPr>
            </a:pPr>
            <a:r>
              <a:t>LLM</a:t>
            </a:r>
          </a:p>
        </p:txBody>
      </p:sp>
      <p:sp>
        <p:nvSpPr>
          <p:cNvPr id="37" name="TextBox 36"/>
          <p:cNvSpPr txBox="1"/>
          <p:nvPr/>
        </p:nvSpPr>
        <p:spPr>
          <a:xfrm>
            <a:off x="10396728" y="2359152"/>
            <a:ext cx="1325880" cy="1399032"/>
          </a:xfrm>
          <a:prstGeom prst="rect">
            <a:avLst/>
          </a:prstGeom>
          <a:noFill/>
        </p:spPr>
        <p:txBody>
          <a:bodyPr wrap="square">
            <a:spAutoFit/>
          </a:bodyPr>
          <a:lstStyle/>
          <a:p>
            <a:pPr>
              <a:defRPr sz="1150">
                <a:solidFill>
                  <a:srgbClr val="232A34"/>
                </a:solidFill>
              </a:defRPr>
            </a:pPr>
            <a:r>
              <a:t>Ollama</a:t>
            </a:r>
            <a:br/>
            <a:r>
              <a:t>Llama 3.2</a:t>
            </a:r>
          </a:p>
        </p:txBody>
      </p:sp>
      <p:sp>
        <p:nvSpPr>
          <p:cNvPr id="38" name="Rounded Rectangle 37"/>
          <p:cNvSpPr/>
          <p:nvPr/>
        </p:nvSpPr>
        <p:spPr>
          <a:xfrm>
            <a:off x="822960" y="4389120"/>
            <a:ext cx="1051560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22960" y="4389120"/>
            <a:ext cx="64008" cy="96012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4128" y="4526280"/>
            <a:ext cx="10149840" cy="320040"/>
          </a:xfrm>
          <a:prstGeom prst="rect">
            <a:avLst/>
          </a:prstGeom>
          <a:noFill/>
        </p:spPr>
        <p:txBody>
          <a:bodyPr wrap="none">
            <a:spAutoFit/>
          </a:bodyPr>
          <a:lstStyle/>
          <a:p>
            <a:pPr>
              <a:defRPr sz="1500" b="1">
                <a:solidFill>
                  <a:srgbClr val="143769"/>
                </a:solidFill>
              </a:defRPr>
            </a:pPr>
            <a:r>
              <a:t>Grounding principle</a:t>
            </a:r>
          </a:p>
        </p:txBody>
      </p:sp>
      <p:sp>
        <p:nvSpPr>
          <p:cNvPr id="41" name="TextBox 40"/>
          <p:cNvSpPr txBox="1"/>
          <p:nvPr/>
        </p:nvSpPr>
        <p:spPr>
          <a:xfrm>
            <a:off x="1024128" y="4919472"/>
            <a:ext cx="10149840" cy="301752"/>
          </a:xfrm>
          <a:prstGeom prst="rect">
            <a:avLst/>
          </a:prstGeom>
          <a:noFill/>
        </p:spPr>
        <p:txBody>
          <a:bodyPr wrap="square">
            <a:spAutoFit/>
          </a:bodyPr>
          <a:lstStyle/>
          <a:p>
            <a:pPr>
              <a:defRPr sz="1150">
                <a:solidFill>
                  <a:srgbClr val="232A34"/>
                </a:solidFill>
              </a:defRPr>
            </a:pPr>
            <a:r>
              <a:t>The assistant is instructed not to invent routes, traffic conditions or prediction results, and to distinguish historical/model predictions from real-time conditions.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17. Knowledge Base &amp; Retrieval</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Actual GenAI notebook outputs</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18</a:t>
            </a:r>
          </a:p>
        </p:txBody>
      </p:sp>
      <p:sp>
        <p:nvSpPr>
          <p:cNvPr id="9" name="Rounded Rectangle 8"/>
          <p:cNvSpPr/>
          <p:nvPr/>
        </p:nvSpPr>
        <p:spPr>
          <a:xfrm>
            <a:off x="731520" y="1188720"/>
            <a:ext cx="224028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1307592"/>
            <a:ext cx="2020824" cy="256032"/>
          </a:xfrm>
          <a:prstGeom prst="rect">
            <a:avLst/>
          </a:prstGeom>
          <a:noFill/>
        </p:spPr>
        <p:txBody>
          <a:bodyPr wrap="none">
            <a:spAutoFit/>
          </a:bodyPr>
          <a:lstStyle/>
          <a:p>
            <a:pPr algn="ctr">
              <a:defRPr sz="1050">
                <a:solidFill>
                  <a:srgbClr val="646E7D"/>
                </a:solidFill>
              </a:defRPr>
            </a:pPr>
            <a:r>
              <a:t>Documents</a:t>
            </a:r>
          </a:p>
        </p:txBody>
      </p:sp>
      <p:sp>
        <p:nvSpPr>
          <p:cNvPr id="11" name="TextBox 10"/>
          <p:cNvSpPr txBox="1"/>
          <p:nvPr/>
        </p:nvSpPr>
        <p:spPr>
          <a:xfrm>
            <a:off x="841248" y="1581912"/>
            <a:ext cx="2020824" cy="411480"/>
          </a:xfrm>
          <a:prstGeom prst="rect">
            <a:avLst/>
          </a:prstGeom>
          <a:noFill/>
        </p:spPr>
        <p:txBody>
          <a:bodyPr wrap="none">
            <a:spAutoFit/>
          </a:bodyPr>
          <a:lstStyle/>
          <a:p>
            <a:pPr algn="ctr">
              <a:defRPr sz="2100" b="1">
                <a:solidFill>
                  <a:srgbClr val="2D63BE"/>
                </a:solidFill>
              </a:defRPr>
            </a:pPr>
            <a:r>
              <a:t>1</a:t>
            </a:r>
          </a:p>
        </p:txBody>
      </p:sp>
      <p:sp>
        <p:nvSpPr>
          <p:cNvPr id="12" name="Rounded Rectangle 11"/>
          <p:cNvSpPr/>
          <p:nvPr/>
        </p:nvSpPr>
        <p:spPr>
          <a:xfrm>
            <a:off x="3246120" y="1188720"/>
            <a:ext cx="224028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55848" y="1307592"/>
            <a:ext cx="2020824" cy="256032"/>
          </a:xfrm>
          <a:prstGeom prst="rect">
            <a:avLst/>
          </a:prstGeom>
          <a:noFill/>
        </p:spPr>
        <p:txBody>
          <a:bodyPr wrap="none">
            <a:spAutoFit/>
          </a:bodyPr>
          <a:lstStyle/>
          <a:p>
            <a:pPr algn="ctr">
              <a:defRPr sz="1050">
                <a:solidFill>
                  <a:srgbClr val="646E7D"/>
                </a:solidFill>
              </a:defRPr>
            </a:pPr>
            <a:r>
              <a:t>Characters</a:t>
            </a:r>
          </a:p>
        </p:txBody>
      </p:sp>
      <p:sp>
        <p:nvSpPr>
          <p:cNvPr id="14" name="TextBox 13"/>
          <p:cNvSpPr txBox="1"/>
          <p:nvPr/>
        </p:nvSpPr>
        <p:spPr>
          <a:xfrm>
            <a:off x="3355848" y="1581912"/>
            <a:ext cx="2020824" cy="411480"/>
          </a:xfrm>
          <a:prstGeom prst="rect">
            <a:avLst/>
          </a:prstGeom>
          <a:noFill/>
        </p:spPr>
        <p:txBody>
          <a:bodyPr wrap="none">
            <a:spAutoFit/>
          </a:bodyPr>
          <a:lstStyle/>
          <a:p>
            <a:pPr algn="ctr">
              <a:defRPr sz="2100" b="1">
                <a:solidFill>
                  <a:srgbClr val="2D63BE"/>
                </a:solidFill>
              </a:defRPr>
            </a:pPr>
            <a:r>
              <a:t>24,247</a:t>
            </a:r>
          </a:p>
        </p:txBody>
      </p:sp>
      <p:sp>
        <p:nvSpPr>
          <p:cNvPr id="15" name="Rounded Rectangle 14"/>
          <p:cNvSpPr/>
          <p:nvPr/>
        </p:nvSpPr>
        <p:spPr>
          <a:xfrm>
            <a:off x="5760720" y="1188720"/>
            <a:ext cx="224028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70448" y="1307592"/>
            <a:ext cx="2020824" cy="256032"/>
          </a:xfrm>
          <a:prstGeom prst="rect">
            <a:avLst/>
          </a:prstGeom>
          <a:noFill/>
        </p:spPr>
        <p:txBody>
          <a:bodyPr wrap="none">
            <a:spAutoFit/>
          </a:bodyPr>
          <a:lstStyle/>
          <a:p>
            <a:pPr algn="ctr">
              <a:defRPr sz="1050">
                <a:solidFill>
                  <a:srgbClr val="646E7D"/>
                </a:solidFill>
              </a:defRPr>
            </a:pPr>
            <a:r>
              <a:t>Paragraphs</a:t>
            </a:r>
          </a:p>
        </p:txBody>
      </p:sp>
      <p:sp>
        <p:nvSpPr>
          <p:cNvPr id="17" name="TextBox 16"/>
          <p:cNvSpPr txBox="1"/>
          <p:nvPr/>
        </p:nvSpPr>
        <p:spPr>
          <a:xfrm>
            <a:off x="5870448" y="1581912"/>
            <a:ext cx="2020824" cy="411480"/>
          </a:xfrm>
          <a:prstGeom prst="rect">
            <a:avLst/>
          </a:prstGeom>
          <a:noFill/>
        </p:spPr>
        <p:txBody>
          <a:bodyPr wrap="none">
            <a:spAutoFit/>
          </a:bodyPr>
          <a:lstStyle/>
          <a:p>
            <a:pPr algn="ctr">
              <a:defRPr sz="2100" b="1">
                <a:solidFill>
                  <a:srgbClr val="34824B"/>
                </a:solidFill>
              </a:defRPr>
            </a:pPr>
            <a:r>
              <a:t>291</a:t>
            </a:r>
          </a:p>
        </p:txBody>
      </p:sp>
      <p:sp>
        <p:nvSpPr>
          <p:cNvPr id="18" name="Rounded Rectangle 17"/>
          <p:cNvSpPr/>
          <p:nvPr/>
        </p:nvSpPr>
        <p:spPr>
          <a:xfrm>
            <a:off x="8275320" y="1188720"/>
            <a:ext cx="224028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85048" y="1307592"/>
            <a:ext cx="2020824" cy="256032"/>
          </a:xfrm>
          <a:prstGeom prst="rect">
            <a:avLst/>
          </a:prstGeom>
          <a:noFill/>
        </p:spPr>
        <p:txBody>
          <a:bodyPr wrap="none">
            <a:spAutoFit/>
          </a:bodyPr>
          <a:lstStyle/>
          <a:p>
            <a:pPr algn="ctr">
              <a:defRPr sz="1050">
                <a:solidFill>
                  <a:srgbClr val="646E7D"/>
                </a:solidFill>
              </a:defRPr>
            </a:pPr>
            <a:r>
              <a:t>Chunks</a:t>
            </a:r>
          </a:p>
        </p:txBody>
      </p:sp>
      <p:sp>
        <p:nvSpPr>
          <p:cNvPr id="20" name="TextBox 19"/>
          <p:cNvSpPr txBox="1"/>
          <p:nvPr/>
        </p:nvSpPr>
        <p:spPr>
          <a:xfrm>
            <a:off x="8385048" y="1581912"/>
            <a:ext cx="2020824" cy="411480"/>
          </a:xfrm>
          <a:prstGeom prst="rect">
            <a:avLst/>
          </a:prstGeom>
          <a:noFill/>
        </p:spPr>
        <p:txBody>
          <a:bodyPr wrap="none">
            <a:spAutoFit/>
          </a:bodyPr>
          <a:lstStyle/>
          <a:p>
            <a:pPr algn="ctr">
              <a:defRPr sz="2100" b="1">
                <a:solidFill>
                  <a:srgbClr val="734BA5"/>
                </a:solidFill>
              </a:defRPr>
            </a:pPr>
            <a:r>
              <a:t>20</a:t>
            </a:r>
          </a:p>
        </p:txBody>
      </p:sp>
      <p:pic>
        <p:nvPicPr>
          <p:cNvPr id="21" name="Picture 20" descr="ml_47.png"/>
          <p:cNvPicPr>
            <a:picLocks noChangeAspect="1"/>
          </p:cNvPicPr>
          <p:nvPr/>
        </p:nvPicPr>
        <p:blipFill>
          <a:blip r:embed="rId2"/>
          <a:stretch>
            <a:fillRect/>
          </a:stretch>
        </p:blipFill>
        <p:spPr>
          <a:xfrm>
            <a:off x="860703" y="2743200"/>
            <a:ext cx="4679393" cy="2560320"/>
          </a:xfrm>
          <a:prstGeom prst="rect">
            <a:avLst/>
          </a:prstGeom>
        </p:spPr>
      </p:pic>
      <p:pic>
        <p:nvPicPr>
          <p:cNvPr id="22" name="Picture 21"/>
          <p:cNvPicPr>
            <a:picLocks noChangeAspect="1"/>
          </p:cNvPicPr>
          <p:nvPr/>
        </p:nvPicPr>
        <p:blipFill>
          <a:blip r:embed="rId3"/>
          <a:srcRect/>
          <a:stretch/>
        </p:blipFill>
        <p:spPr>
          <a:xfrm>
            <a:off x="5870448" y="2598724"/>
            <a:ext cx="6016752" cy="2613356"/>
          </a:xfrm>
          <a:prstGeom prst="rect">
            <a:avLst/>
          </a:prstGeom>
        </p:spPr>
      </p:pic>
      <p:sp>
        <p:nvSpPr>
          <p:cNvPr id="23" name="Rounded Rectangle 22"/>
          <p:cNvSpPr/>
          <p:nvPr/>
        </p:nvSpPr>
        <p:spPr>
          <a:xfrm>
            <a:off x="731520" y="5532119"/>
            <a:ext cx="10535769" cy="813815"/>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19" y="5532119"/>
            <a:ext cx="107847" cy="751621"/>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0703" y="5522976"/>
            <a:ext cx="10241280" cy="320040"/>
          </a:xfrm>
          <a:prstGeom prst="rect">
            <a:avLst/>
          </a:prstGeom>
          <a:noFill/>
        </p:spPr>
        <p:txBody>
          <a:bodyPr wrap="none">
            <a:spAutoFit/>
          </a:bodyPr>
          <a:lstStyle/>
          <a:p>
            <a:pPr>
              <a:defRPr sz="1500" b="1">
                <a:solidFill>
                  <a:srgbClr val="DC782D"/>
                </a:solidFill>
              </a:defRPr>
            </a:pPr>
            <a:r>
              <a:rPr dirty="0"/>
              <a:t>Retrieval example</a:t>
            </a:r>
          </a:p>
        </p:txBody>
      </p:sp>
      <p:sp>
        <p:nvSpPr>
          <p:cNvPr id="26" name="TextBox 25"/>
          <p:cNvSpPr txBox="1"/>
          <p:nvPr/>
        </p:nvSpPr>
        <p:spPr>
          <a:xfrm>
            <a:off x="932688" y="6062472"/>
            <a:ext cx="10241280" cy="0"/>
          </a:xfrm>
          <a:prstGeom prst="rect">
            <a:avLst/>
          </a:prstGeom>
          <a:noFill/>
        </p:spPr>
        <p:txBody>
          <a:bodyPr wrap="square">
            <a:spAutoFit/>
          </a:bodyPr>
          <a:lstStyle/>
          <a:p>
            <a:pPr>
              <a:defRPr sz="1150">
                <a:solidFill>
                  <a:srgbClr val="232A34"/>
                </a:solidFill>
              </a:defRPr>
            </a:pPr>
            <a:r>
              <a:rPr dirty="0"/>
              <a:t>For “What is traffic congestion?”, the top retrieved chunk had cosine similarity ≈ 0.4433.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18. Llama 3.2 Response Generation</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The retrieved context is injected into a controlled prompt before generation</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19</a:t>
            </a:r>
          </a:p>
        </p:txBody>
      </p:sp>
      <p:sp>
        <p:nvSpPr>
          <p:cNvPr id="9" name="Rounded Rectangle 8"/>
          <p:cNvSpPr/>
          <p:nvPr/>
        </p:nvSpPr>
        <p:spPr>
          <a:xfrm>
            <a:off x="640080" y="1234440"/>
            <a:ext cx="5257800" cy="34290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234440"/>
            <a:ext cx="64008" cy="342900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1371600"/>
            <a:ext cx="4892040" cy="320040"/>
          </a:xfrm>
          <a:prstGeom prst="rect">
            <a:avLst/>
          </a:prstGeom>
          <a:noFill/>
        </p:spPr>
        <p:txBody>
          <a:bodyPr wrap="none">
            <a:spAutoFit/>
          </a:bodyPr>
          <a:lstStyle/>
          <a:p>
            <a:pPr>
              <a:defRPr sz="1500" b="1">
                <a:solidFill>
                  <a:srgbClr val="2D63BE"/>
                </a:solidFill>
              </a:defRPr>
            </a:pPr>
            <a:r>
              <a:t>Prompt design</a:t>
            </a:r>
          </a:p>
        </p:txBody>
      </p:sp>
      <p:sp>
        <p:nvSpPr>
          <p:cNvPr id="12" name="TextBox 11"/>
          <p:cNvSpPr txBox="1"/>
          <p:nvPr/>
        </p:nvSpPr>
        <p:spPr>
          <a:xfrm>
            <a:off x="841247" y="1764792"/>
            <a:ext cx="4892040" cy="2770632"/>
          </a:xfrm>
          <a:prstGeom prst="rect">
            <a:avLst/>
          </a:prstGeom>
          <a:noFill/>
        </p:spPr>
        <p:txBody>
          <a:bodyPr wrap="square">
            <a:spAutoFit/>
          </a:bodyPr>
          <a:lstStyle/>
          <a:p>
            <a:pPr>
              <a:defRPr sz="1150">
                <a:solidFill>
                  <a:srgbClr val="232A34"/>
                </a:solidFill>
              </a:defRPr>
            </a:pPr>
            <a:r>
              <a:t>1. Use retrieved knowledge as the primary source.</a:t>
            </a:r>
            <a:br/>
            <a:r>
              <a:t>2. Do not invent unsupported traffic facts.</a:t>
            </a:r>
            <a:br/>
            <a:r>
              <a:t>3. State when information is unavailable.</a:t>
            </a:r>
            <a:br/>
            <a:r>
              <a:t>4. Give clear, helpful answers.</a:t>
            </a:r>
            <a:br/>
            <a:r>
              <a:t>5. Add safety guidance where relevant.</a:t>
            </a:r>
            <a:br/>
            <a:r>
              <a:t>6. Do not confuse model predictions with live conditions.</a:t>
            </a:r>
          </a:p>
        </p:txBody>
      </p:sp>
      <p:sp>
        <p:nvSpPr>
          <p:cNvPr id="13" name="Rounded Rectangle 12"/>
          <p:cNvSpPr/>
          <p:nvPr/>
        </p:nvSpPr>
        <p:spPr>
          <a:xfrm>
            <a:off x="6217920" y="1234440"/>
            <a:ext cx="5257800" cy="14173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1234440"/>
            <a:ext cx="64008" cy="141732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1371600"/>
            <a:ext cx="4892040" cy="320040"/>
          </a:xfrm>
          <a:prstGeom prst="rect">
            <a:avLst/>
          </a:prstGeom>
          <a:noFill/>
        </p:spPr>
        <p:txBody>
          <a:bodyPr wrap="none">
            <a:spAutoFit/>
          </a:bodyPr>
          <a:lstStyle/>
          <a:p>
            <a:pPr>
              <a:defRPr sz="1500" b="1">
                <a:solidFill>
                  <a:srgbClr val="734BA5"/>
                </a:solidFill>
              </a:defRPr>
            </a:pPr>
            <a:r>
              <a:t>Test question</a:t>
            </a:r>
          </a:p>
        </p:txBody>
      </p:sp>
      <p:sp>
        <p:nvSpPr>
          <p:cNvPr id="16" name="TextBox 15"/>
          <p:cNvSpPr txBox="1"/>
          <p:nvPr/>
        </p:nvSpPr>
        <p:spPr>
          <a:xfrm>
            <a:off x="6419088" y="1764792"/>
            <a:ext cx="4892040" cy="758952"/>
          </a:xfrm>
          <a:prstGeom prst="rect">
            <a:avLst/>
          </a:prstGeom>
          <a:noFill/>
        </p:spPr>
        <p:txBody>
          <a:bodyPr wrap="square">
            <a:spAutoFit/>
          </a:bodyPr>
          <a:lstStyle/>
          <a:p>
            <a:pPr>
              <a:defRPr sz="1150">
                <a:solidFill>
                  <a:srgbClr val="232A34"/>
                </a:solidFill>
              </a:defRPr>
            </a:pPr>
            <a:r>
              <a:t>“What is traffic congestion?”</a:t>
            </a:r>
          </a:p>
        </p:txBody>
      </p:sp>
      <p:sp>
        <p:nvSpPr>
          <p:cNvPr id="17" name="Rounded Rectangle 16"/>
          <p:cNvSpPr/>
          <p:nvPr/>
        </p:nvSpPr>
        <p:spPr>
          <a:xfrm>
            <a:off x="6217920" y="2880360"/>
            <a:ext cx="5257800" cy="17830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2880360"/>
            <a:ext cx="64008" cy="17830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9088" y="3017520"/>
            <a:ext cx="4892040" cy="320040"/>
          </a:xfrm>
          <a:prstGeom prst="rect">
            <a:avLst/>
          </a:prstGeom>
          <a:noFill/>
        </p:spPr>
        <p:txBody>
          <a:bodyPr wrap="none">
            <a:spAutoFit/>
          </a:bodyPr>
          <a:lstStyle/>
          <a:p>
            <a:pPr>
              <a:defRPr sz="1500" b="1">
                <a:solidFill>
                  <a:srgbClr val="34824B"/>
                </a:solidFill>
              </a:defRPr>
            </a:pPr>
            <a:r>
              <a:t>Generated answer</a:t>
            </a:r>
          </a:p>
        </p:txBody>
      </p:sp>
      <p:sp>
        <p:nvSpPr>
          <p:cNvPr id="20" name="TextBox 19"/>
          <p:cNvSpPr txBox="1"/>
          <p:nvPr/>
        </p:nvSpPr>
        <p:spPr>
          <a:xfrm>
            <a:off x="6419088" y="3410712"/>
            <a:ext cx="4892040" cy="1124712"/>
          </a:xfrm>
          <a:prstGeom prst="rect">
            <a:avLst/>
          </a:prstGeom>
          <a:noFill/>
        </p:spPr>
        <p:txBody>
          <a:bodyPr wrap="square">
            <a:spAutoFit/>
          </a:bodyPr>
          <a:lstStyle/>
          <a:p>
            <a:pPr>
              <a:defRPr sz="1150">
                <a:solidFill>
                  <a:srgbClr val="232A34"/>
                </a:solidFill>
              </a:defRPr>
            </a:pPr>
            <a:r>
              <a:t>“Traffic congestion occurs when the number of vehicles using a road approaches or exceeds the road’s available capacity, resulting in slower speeds, longer travel times, increased fuel consumption, and increased driver frustration.”</a:t>
            </a:r>
          </a:p>
        </p:txBody>
      </p:sp>
      <p:sp>
        <p:nvSpPr>
          <p:cNvPr id="21" name="Rounded Rectangle 20"/>
          <p:cNvSpPr/>
          <p:nvPr/>
        </p:nvSpPr>
        <p:spPr>
          <a:xfrm>
            <a:off x="1920240" y="5074920"/>
            <a:ext cx="8321040" cy="77724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920240" y="5074920"/>
            <a:ext cx="64008" cy="77724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121408" y="5212080"/>
            <a:ext cx="7955279" cy="320040"/>
          </a:xfrm>
          <a:prstGeom prst="rect">
            <a:avLst/>
          </a:prstGeom>
          <a:noFill/>
        </p:spPr>
        <p:txBody>
          <a:bodyPr wrap="none">
            <a:spAutoFit/>
          </a:bodyPr>
          <a:lstStyle/>
          <a:p>
            <a:pPr>
              <a:defRPr sz="1500" b="1">
                <a:solidFill>
                  <a:srgbClr val="DC782D"/>
                </a:solidFill>
              </a:defRPr>
            </a:pPr>
            <a:r>
              <a:t>Why RAG?</a:t>
            </a:r>
          </a:p>
        </p:txBody>
      </p:sp>
      <p:sp>
        <p:nvSpPr>
          <p:cNvPr id="24" name="TextBox 23"/>
          <p:cNvSpPr txBox="1"/>
          <p:nvPr/>
        </p:nvSpPr>
        <p:spPr>
          <a:xfrm>
            <a:off x="2121408" y="5605272"/>
            <a:ext cx="7955279" cy="118872"/>
          </a:xfrm>
          <a:prstGeom prst="rect">
            <a:avLst/>
          </a:prstGeom>
          <a:noFill/>
        </p:spPr>
        <p:txBody>
          <a:bodyPr wrap="square">
            <a:spAutoFit/>
          </a:bodyPr>
          <a:lstStyle/>
          <a:p>
            <a:pPr>
              <a:defRPr sz="1150">
                <a:solidFill>
                  <a:srgbClr val="232A34"/>
                </a:solidFill>
              </a:defRPr>
            </a:pPr>
            <a:r>
              <a:t>It grounds the language model in project-specific traffic knowledge before generating the response.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19. FastAPI REST API Integration</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The trained artifacts and RAG assistant were exposed through a common backend</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20</a:t>
            </a:r>
          </a:p>
        </p:txBody>
      </p:sp>
      <p:sp>
        <p:nvSpPr>
          <p:cNvPr id="9" name="Rounded Rectangle 8"/>
          <p:cNvSpPr/>
          <p:nvPr/>
        </p:nvSpPr>
        <p:spPr>
          <a:xfrm>
            <a:off x="640080" y="1234440"/>
            <a:ext cx="3383280" cy="13258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234440"/>
            <a:ext cx="64008" cy="132588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1371600"/>
            <a:ext cx="3017520" cy="320040"/>
          </a:xfrm>
          <a:prstGeom prst="rect">
            <a:avLst/>
          </a:prstGeom>
          <a:noFill/>
        </p:spPr>
        <p:txBody>
          <a:bodyPr wrap="none">
            <a:spAutoFit/>
          </a:bodyPr>
          <a:lstStyle/>
          <a:p>
            <a:pPr>
              <a:defRPr sz="1500" b="1">
                <a:solidFill>
                  <a:srgbClr val="2D63BE"/>
                </a:solidFill>
              </a:defRPr>
            </a:pPr>
            <a:r>
              <a:t>GET /</a:t>
            </a:r>
          </a:p>
        </p:txBody>
      </p:sp>
      <p:sp>
        <p:nvSpPr>
          <p:cNvPr id="12" name="TextBox 11"/>
          <p:cNvSpPr txBox="1"/>
          <p:nvPr/>
        </p:nvSpPr>
        <p:spPr>
          <a:xfrm>
            <a:off x="841247" y="1764792"/>
            <a:ext cx="3017520" cy="667512"/>
          </a:xfrm>
          <a:prstGeom prst="rect">
            <a:avLst/>
          </a:prstGeom>
          <a:noFill/>
        </p:spPr>
        <p:txBody>
          <a:bodyPr wrap="square">
            <a:spAutoFit/>
          </a:bodyPr>
          <a:lstStyle/>
          <a:p>
            <a:pPr>
              <a:defRPr sz="1150">
                <a:solidFill>
                  <a:srgbClr val="232A34"/>
                </a:solidFill>
              </a:defRPr>
            </a:pPr>
            <a:r>
              <a:t>API running message</a:t>
            </a:r>
          </a:p>
        </p:txBody>
      </p:sp>
      <p:sp>
        <p:nvSpPr>
          <p:cNvPr id="13" name="Rounded Rectangle 12"/>
          <p:cNvSpPr/>
          <p:nvPr/>
        </p:nvSpPr>
        <p:spPr>
          <a:xfrm>
            <a:off x="640080" y="2788920"/>
            <a:ext cx="3383280" cy="13258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788920"/>
            <a:ext cx="64008" cy="13258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7" y="2926079"/>
            <a:ext cx="3017520" cy="320040"/>
          </a:xfrm>
          <a:prstGeom prst="rect">
            <a:avLst/>
          </a:prstGeom>
          <a:noFill/>
        </p:spPr>
        <p:txBody>
          <a:bodyPr wrap="none">
            <a:spAutoFit/>
          </a:bodyPr>
          <a:lstStyle/>
          <a:p>
            <a:pPr>
              <a:defRPr sz="1500" b="1">
                <a:solidFill>
                  <a:srgbClr val="34824B"/>
                </a:solidFill>
              </a:defRPr>
            </a:pPr>
            <a:r>
              <a:t>GET /health</a:t>
            </a:r>
          </a:p>
        </p:txBody>
      </p:sp>
      <p:sp>
        <p:nvSpPr>
          <p:cNvPr id="16" name="TextBox 15"/>
          <p:cNvSpPr txBox="1"/>
          <p:nvPr/>
        </p:nvSpPr>
        <p:spPr>
          <a:xfrm>
            <a:off x="841247" y="3319272"/>
            <a:ext cx="3017520" cy="667512"/>
          </a:xfrm>
          <a:prstGeom prst="rect">
            <a:avLst/>
          </a:prstGeom>
          <a:noFill/>
        </p:spPr>
        <p:txBody>
          <a:bodyPr wrap="square">
            <a:spAutoFit/>
          </a:bodyPr>
          <a:lstStyle/>
          <a:p>
            <a:pPr>
              <a:defRPr sz="1150">
                <a:solidFill>
                  <a:srgbClr val="232A34"/>
                </a:solidFill>
              </a:defRPr>
            </a:pPr>
            <a:r>
              <a:t>Health check → status: healthy</a:t>
            </a:r>
          </a:p>
        </p:txBody>
      </p:sp>
      <p:sp>
        <p:nvSpPr>
          <p:cNvPr id="17" name="Rounded Rectangle 16"/>
          <p:cNvSpPr/>
          <p:nvPr/>
        </p:nvSpPr>
        <p:spPr>
          <a:xfrm>
            <a:off x="640080" y="4343400"/>
            <a:ext cx="3383280" cy="13258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4343400"/>
            <a:ext cx="64008" cy="132588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7" y="4480560"/>
            <a:ext cx="3017520" cy="320040"/>
          </a:xfrm>
          <a:prstGeom prst="rect">
            <a:avLst/>
          </a:prstGeom>
          <a:noFill/>
        </p:spPr>
        <p:txBody>
          <a:bodyPr wrap="none">
            <a:spAutoFit/>
          </a:bodyPr>
          <a:lstStyle/>
          <a:p>
            <a:pPr>
              <a:defRPr sz="1500" b="1">
                <a:solidFill>
                  <a:srgbClr val="DC782D"/>
                </a:solidFill>
              </a:defRPr>
            </a:pPr>
            <a:r>
              <a:t>POST /predict/ml</a:t>
            </a:r>
          </a:p>
        </p:txBody>
      </p:sp>
      <p:sp>
        <p:nvSpPr>
          <p:cNvPr id="20" name="TextBox 19"/>
          <p:cNvSpPr txBox="1"/>
          <p:nvPr/>
        </p:nvSpPr>
        <p:spPr>
          <a:xfrm>
            <a:off x="841247" y="4873752"/>
            <a:ext cx="3017520" cy="667512"/>
          </a:xfrm>
          <a:prstGeom prst="rect">
            <a:avLst/>
          </a:prstGeom>
          <a:noFill/>
        </p:spPr>
        <p:txBody>
          <a:bodyPr wrap="square">
            <a:spAutoFit/>
          </a:bodyPr>
          <a:lstStyle/>
          <a:p>
            <a:pPr>
              <a:defRPr sz="1150">
                <a:solidFill>
                  <a:srgbClr val="232A34"/>
                </a:solidFill>
              </a:defRPr>
            </a:pPr>
            <a:r>
              <a:t>XGBoost prediction using the saved preprocessor + model</a:t>
            </a:r>
          </a:p>
        </p:txBody>
      </p:sp>
      <p:sp>
        <p:nvSpPr>
          <p:cNvPr id="21" name="Rounded Rectangle 20"/>
          <p:cNvSpPr/>
          <p:nvPr/>
        </p:nvSpPr>
        <p:spPr>
          <a:xfrm>
            <a:off x="4389120" y="1234440"/>
            <a:ext cx="3383280" cy="13258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89120" y="1234440"/>
            <a:ext cx="64008" cy="132588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90288" y="1371600"/>
            <a:ext cx="3017520" cy="320040"/>
          </a:xfrm>
          <a:prstGeom prst="rect">
            <a:avLst/>
          </a:prstGeom>
          <a:noFill/>
        </p:spPr>
        <p:txBody>
          <a:bodyPr wrap="none">
            <a:spAutoFit/>
          </a:bodyPr>
          <a:lstStyle/>
          <a:p>
            <a:pPr>
              <a:defRPr sz="1500" b="1">
                <a:solidFill>
                  <a:srgbClr val="734BA5"/>
                </a:solidFill>
              </a:defRPr>
            </a:pPr>
            <a:r>
              <a:t>POST /predict/dl</a:t>
            </a:r>
          </a:p>
        </p:txBody>
      </p:sp>
      <p:sp>
        <p:nvSpPr>
          <p:cNvPr id="24" name="TextBox 23"/>
          <p:cNvSpPr txBox="1"/>
          <p:nvPr/>
        </p:nvSpPr>
        <p:spPr>
          <a:xfrm>
            <a:off x="4590288" y="1764792"/>
            <a:ext cx="3017520" cy="667512"/>
          </a:xfrm>
          <a:prstGeom prst="rect">
            <a:avLst/>
          </a:prstGeom>
          <a:noFill/>
        </p:spPr>
        <p:txBody>
          <a:bodyPr wrap="square">
            <a:spAutoFit/>
          </a:bodyPr>
          <a:lstStyle/>
          <a:p>
            <a:pPr>
              <a:defRPr sz="1150">
                <a:solidFill>
                  <a:srgbClr val="232A34"/>
                </a:solidFill>
              </a:defRPr>
            </a:pPr>
            <a:r>
              <a:t>Requires exactly 24 time steps for LSTM forecasting</a:t>
            </a:r>
          </a:p>
        </p:txBody>
      </p:sp>
      <p:sp>
        <p:nvSpPr>
          <p:cNvPr id="25" name="Rounded Rectangle 24"/>
          <p:cNvSpPr/>
          <p:nvPr/>
        </p:nvSpPr>
        <p:spPr>
          <a:xfrm>
            <a:off x="4389120" y="2788920"/>
            <a:ext cx="3383280" cy="13258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89120" y="2788920"/>
            <a:ext cx="64008" cy="1325880"/>
          </a:xfrm>
          <a:prstGeom prst="rect">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90288" y="2926079"/>
            <a:ext cx="3017520" cy="320040"/>
          </a:xfrm>
          <a:prstGeom prst="rect">
            <a:avLst/>
          </a:prstGeom>
          <a:noFill/>
        </p:spPr>
        <p:txBody>
          <a:bodyPr wrap="none">
            <a:spAutoFit/>
          </a:bodyPr>
          <a:lstStyle/>
          <a:p>
            <a:pPr>
              <a:defRPr sz="1500" b="1">
                <a:solidFill>
                  <a:srgbClr val="349AB4"/>
                </a:solidFill>
              </a:defRPr>
            </a:pPr>
            <a:r>
              <a:t>POST /ask</a:t>
            </a:r>
          </a:p>
        </p:txBody>
      </p:sp>
      <p:sp>
        <p:nvSpPr>
          <p:cNvPr id="28" name="TextBox 27"/>
          <p:cNvSpPr txBox="1"/>
          <p:nvPr/>
        </p:nvSpPr>
        <p:spPr>
          <a:xfrm>
            <a:off x="4590288" y="3319272"/>
            <a:ext cx="3017520" cy="667512"/>
          </a:xfrm>
          <a:prstGeom prst="rect">
            <a:avLst/>
          </a:prstGeom>
          <a:noFill/>
        </p:spPr>
        <p:txBody>
          <a:bodyPr wrap="square">
            <a:spAutoFit/>
          </a:bodyPr>
          <a:lstStyle/>
          <a:p>
            <a:pPr>
              <a:defRPr sz="1150">
                <a:solidFill>
                  <a:srgbClr val="232A34"/>
                </a:solidFill>
              </a:defRPr>
            </a:pPr>
            <a:r>
              <a:t>Traffic question → RAG → Llama 3.2 answer</a:t>
            </a:r>
          </a:p>
        </p:txBody>
      </p:sp>
      <p:sp>
        <p:nvSpPr>
          <p:cNvPr id="29" name="Rounded Rectangle 28"/>
          <p:cNvSpPr/>
          <p:nvPr/>
        </p:nvSpPr>
        <p:spPr>
          <a:xfrm>
            <a:off x="4389120" y="4343400"/>
            <a:ext cx="3383280" cy="13258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389120" y="4343400"/>
            <a:ext cx="64008" cy="132588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90288" y="4480560"/>
            <a:ext cx="3017520" cy="320040"/>
          </a:xfrm>
          <a:prstGeom prst="rect">
            <a:avLst/>
          </a:prstGeom>
          <a:noFill/>
        </p:spPr>
        <p:txBody>
          <a:bodyPr wrap="none">
            <a:spAutoFit/>
          </a:bodyPr>
          <a:lstStyle/>
          <a:p>
            <a:pPr>
              <a:defRPr sz="1500" b="1">
                <a:solidFill>
                  <a:srgbClr val="143769"/>
                </a:solidFill>
              </a:defRPr>
            </a:pPr>
            <a:r>
              <a:t>Artifacts loaded</a:t>
            </a:r>
          </a:p>
        </p:txBody>
      </p:sp>
      <p:sp>
        <p:nvSpPr>
          <p:cNvPr id="32" name="TextBox 31"/>
          <p:cNvSpPr txBox="1"/>
          <p:nvPr/>
        </p:nvSpPr>
        <p:spPr>
          <a:xfrm>
            <a:off x="4590288" y="4873752"/>
            <a:ext cx="3017520" cy="667512"/>
          </a:xfrm>
          <a:prstGeom prst="rect">
            <a:avLst/>
          </a:prstGeom>
          <a:noFill/>
        </p:spPr>
        <p:txBody>
          <a:bodyPr wrap="square">
            <a:spAutoFit/>
          </a:bodyPr>
          <a:lstStyle/>
          <a:p>
            <a:pPr>
              <a:defRPr sz="1150">
                <a:solidFill>
                  <a:srgbClr val="232A34"/>
                </a:solidFill>
              </a:defRPr>
            </a:pPr>
            <a:r>
              <a:t>XGBoost JSON + preprocessor + LSTM .keras + feature/target scalers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20. Streamlit Dashboard</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Single user interface for ML prediction, LSTM forecasting and the Intelligent Traffic Assistant</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21</a:t>
            </a:r>
          </a:p>
        </p:txBody>
      </p:sp>
      <p:pic>
        <p:nvPicPr>
          <p:cNvPr id="9" name="Picture 8"/>
          <p:cNvPicPr>
            <a:picLocks noChangeAspect="1"/>
          </p:cNvPicPr>
          <p:nvPr/>
        </p:nvPicPr>
        <p:blipFill>
          <a:blip r:embed="rId2"/>
          <a:srcRect/>
          <a:stretch/>
        </p:blipFill>
        <p:spPr>
          <a:xfrm>
            <a:off x="502920" y="1423490"/>
            <a:ext cx="5392739" cy="2319379"/>
          </a:xfrm>
          <a:prstGeom prst="rect">
            <a:avLst/>
          </a:prstGeom>
          <a:ln>
            <a:solidFill>
              <a:schemeClr val="bg1"/>
            </a:solidFill>
          </a:ln>
        </p:spPr>
      </p:pic>
      <p:pic>
        <p:nvPicPr>
          <p:cNvPr id="10" name="Picture 9"/>
          <p:cNvPicPr>
            <a:picLocks noChangeAspect="1"/>
          </p:cNvPicPr>
          <p:nvPr/>
        </p:nvPicPr>
        <p:blipFill>
          <a:blip r:embed="rId3"/>
          <a:srcRect/>
          <a:stretch/>
        </p:blipFill>
        <p:spPr>
          <a:xfrm>
            <a:off x="6334441" y="1465286"/>
            <a:ext cx="5116198" cy="2235786"/>
          </a:xfrm>
          <a:prstGeom prst="rect">
            <a:avLst/>
          </a:prstGeom>
          <a:ln>
            <a:solidFill>
              <a:schemeClr val="bg1"/>
            </a:solidFill>
          </a:ln>
        </p:spPr>
      </p:pic>
      <p:pic>
        <p:nvPicPr>
          <p:cNvPr id="11" name="Picture 10"/>
          <p:cNvPicPr>
            <a:picLocks noChangeAspect="1"/>
          </p:cNvPicPr>
          <p:nvPr/>
        </p:nvPicPr>
        <p:blipFill>
          <a:blip r:embed="rId4"/>
          <a:srcRect/>
          <a:stretch/>
        </p:blipFill>
        <p:spPr>
          <a:xfrm>
            <a:off x="530353" y="3991968"/>
            <a:ext cx="5322104" cy="2088792"/>
          </a:xfrm>
          <a:prstGeom prst="rect">
            <a:avLst/>
          </a:prstGeom>
          <a:ln>
            <a:solidFill>
              <a:schemeClr val="bg1"/>
            </a:solidFill>
          </a:ln>
        </p:spPr>
      </p:pic>
      <p:sp>
        <p:nvSpPr>
          <p:cNvPr id="12" name="Rounded Rectangle 11"/>
          <p:cNvSpPr/>
          <p:nvPr/>
        </p:nvSpPr>
        <p:spPr>
          <a:xfrm>
            <a:off x="6217920" y="4160520"/>
            <a:ext cx="5349240" cy="192024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4160520"/>
            <a:ext cx="64008" cy="192024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4297680"/>
            <a:ext cx="4983479" cy="320040"/>
          </a:xfrm>
          <a:prstGeom prst="rect">
            <a:avLst/>
          </a:prstGeom>
          <a:noFill/>
        </p:spPr>
        <p:txBody>
          <a:bodyPr wrap="none">
            <a:spAutoFit/>
          </a:bodyPr>
          <a:lstStyle/>
          <a:p>
            <a:pPr>
              <a:defRPr sz="1500" b="1">
                <a:solidFill>
                  <a:srgbClr val="34824B"/>
                </a:solidFill>
              </a:defRPr>
            </a:pPr>
            <a:r>
              <a:t>User-facing capabilities</a:t>
            </a:r>
          </a:p>
        </p:txBody>
      </p:sp>
      <p:sp>
        <p:nvSpPr>
          <p:cNvPr id="15" name="TextBox 14"/>
          <p:cNvSpPr txBox="1"/>
          <p:nvPr/>
        </p:nvSpPr>
        <p:spPr>
          <a:xfrm>
            <a:off x="6419088" y="4690872"/>
            <a:ext cx="4983479" cy="1261872"/>
          </a:xfrm>
          <a:prstGeom prst="rect">
            <a:avLst/>
          </a:prstGeom>
          <a:noFill/>
        </p:spPr>
        <p:txBody>
          <a:bodyPr wrap="square">
            <a:spAutoFit/>
          </a:bodyPr>
          <a:lstStyle/>
          <a:p>
            <a:pPr>
              <a:defRPr sz="1150">
                <a:solidFill>
                  <a:srgbClr val="232A34"/>
                </a:solidFill>
              </a:defRPr>
            </a:pPr>
            <a:r>
              <a:t>• ML traffic-volume prediction</a:t>
            </a:r>
            <a:br/>
            <a:r>
              <a:t>• 24-hour LSTM forecasting</a:t>
            </a:r>
            <a:br/>
            <a:r>
              <a:t>• Traffic-related natural-language questions</a:t>
            </a:r>
            <a:br/>
            <a:r>
              <a:t>• Success/error feedback from FastAPI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530352"/>
          </a:xfrm>
          <a:prstGeom prst="rect">
            <a:avLst/>
          </a:prstGeom>
          <a:noFill/>
        </p:spPr>
        <p:txBody>
          <a:bodyPr wrap="none">
            <a:spAutoFit/>
          </a:bodyPr>
          <a:lstStyle/>
          <a:p>
            <a:pPr>
              <a:defRPr sz="2700" b="1">
                <a:solidFill>
                  <a:srgbClr val="143769"/>
                </a:solidFill>
                <a:latin typeface="Aptos Display"/>
              </a:defRPr>
            </a:pPr>
            <a:r>
              <a:t>21. End-to-End System Flow</a:t>
            </a:r>
          </a:p>
        </p:txBody>
      </p:sp>
      <p:sp>
        <p:nvSpPr>
          <p:cNvPr id="5" name="TextBox 4"/>
          <p:cNvSpPr txBox="1"/>
          <p:nvPr/>
        </p:nvSpPr>
        <p:spPr>
          <a:xfrm>
            <a:off x="521207" y="786384"/>
            <a:ext cx="10972800" cy="320040"/>
          </a:xfrm>
          <a:prstGeom prst="rect">
            <a:avLst/>
          </a:prstGeom>
          <a:noFill/>
        </p:spPr>
        <p:txBody>
          <a:bodyPr wrap="none">
            <a:spAutoFit/>
          </a:bodyPr>
          <a:lstStyle/>
          <a:p>
            <a:pPr>
              <a:defRPr sz="1150">
                <a:solidFill>
                  <a:srgbClr val="646E7D"/>
                </a:solidFill>
                <a:latin typeface="Aptos"/>
              </a:defRPr>
            </a:pPr>
            <a:r>
              <a:t>Implemented prototype flow</a:t>
            </a:r>
          </a:p>
        </p:txBody>
      </p:sp>
      <p:sp>
        <p:nvSpPr>
          <p:cNvPr id="6" name="Rectangle 5"/>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8" name="TextBox 7"/>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22</a:t>
            </a:r>
          </a:p>
        </p:txBody>
      </p:sp>
      <p:sp>
        <p:nvSpPr>
          <p:cNvPr id="9" name="Rounded Rectangle 8"/>
          <p:cNvSpPr/>
          <p:nvPr/>
        </p:nvSpPr>
        <p:spPr>
          <a:xfrm>
            <a:off x="502920" y="1828800"/>
            <a:ext cx="1645920" cy="13716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828800"/>
            <a:ext cx="64008" cy="137160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965960"/>
            <a:ext cx="1280160" cy="320040"/>
          </a:xfrm>
          <a:prstGeom prst="rect">
            <a:avLst/>
          </a:prstGeom>
          <a:noFill/>
        </p:spPr>
        <p:txBody>
          <a:bodyPr wrap="none">
            <a:spAutoFit/>
          </a:bodyPr>
          <a:lstStyle/>
          <a:p>
            <a:pPr>
              <a:defRPr sz="1500" b="1">
                <a:solidFill>
                  <a:srgbClr val="2D63BE"/>
                </a:solidFill>
              </a:defRPr>
            </a:pPr>
            <a:r>
              <a:t>Historical data</a:t>
            </a:r>
          </a:p>
        </p:txBody>
      </p:sp>
      <p:sp>
        <p:nvSpPr>
          <p:cNvPr id="12" name="Right Arrow 11"/>
          <p:cNvSpPr/>
          <p:nvPr/>
        </p:nvSpPr>
        <p:spPr>
          <a:xfrm>
            <a:off x="2167128" y="2313432"/>
            <a:ext cx="256032" cy="292608"/>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404872" y="1828800"/>
            <a:ext cx="1645920" cy="13716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404872" y="1828800"/>
            <a:ext cx="64008" cy="137160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06040" y="1965960"/>
            <a:ext cx="1280160" cy="320040"/>
          </a:xfrm>
          <a:prstGeom prst="rect">
            <a:avLst/>
          </a:prstGeom>
          <a:noFill/>
        </p:spPr>
        <p:txBody>
          <a:bodyPr wrap="none">
            <a:spAutoFit/>
          </a:bodyPr>
          <a:lstStyle/>
          <a:p>
            <a:pPr>
              <a:defRPr sz="1500" b="1">
                <a:solidFill>
                  <a:srgbClr val="34824B"/>
                </a:solidFill>
              </a:defRPr>
            </a:pPr>
            <a:r>
              <a:t>Cleaning &amp; features</a:t>
            </a:r>
          </a:p>
        </p:txBody>
      </p:sp>
      <p:sp>
        <p:nvSpPr>
          <p:cNvPr id="16" name="Right Arrow 15"/>
          <p:cNvSpPr/>
          <p:nvPr/>
        </p:nvSpPr>
        <p:spPr>
          <a:xfrm>
            <a:off x="4069080" y="2313432"/>
            <a:ext cx="256032" cy="292608"/>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06824" y="1828800"/>
            <a:ext cx="1645920" cy="13716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06824" y="1828800"/>
            <a:ext cx="64008" cy="137160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965960"/>
            <a:ext cx="1280160" cy="320040"/>
          </a:xfrm>
          <a:prstGeom prst="rect">
            <a:avLst/>
          </a:prstGeom>
          <a:noFill/>
        </p:spPr>
        <p:txBody>
          <a:bodyPr wrap="none">
            <a:spAutoFit/>
          </a:bodyPr>
          <a:lstStyle/>
          <a:p>
            <a:pPr>
              <a:defRPr sz="1500" b="1">
                <a:solidFill>
                  <a:srgbClr val="DC782D"/>
                </a:solidFill>
              </a:defRPr>
            </a:pPr>
            <a:r>
              <a:t>XGBoost / LSTM</a:t>
            </a:r>
          </a:p>
        </p:txBody>
      </p:sp>
      <p:sp>
        <p:nvSpPr>
          <p:cNvPr id="20" name="Right Arrow 19"/>
          <p:cNvSpPr/>
          <p:nvPr/>
        </p:nvSpPr>
        <p:spPr>
          <a:xfrm>
            <a:off x="5971032" y="2313432"/>
            <a:ext cx="256032" cy="292608"/>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08776" y="1828800"/>
            <a:ext cx="1645920" cy="13716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08776" y="1828800"/>
            <a:ext cx="64008" cy="137160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9944" y="1965960"/>
            <a:ext cx="1280160" cy="320040"/>
          </a:xfrm>
          <a:prstGeom prst="rect">
            <a:avLst/>
          </a:prstGeom>
          <a:noFill/>
        </p:spPr>
        <p:txBody>
          <a:bodyPr wrap="none">
            <a:spAutoFit/>
          </a:bodyPr>
          <a:lstStyle/>
          <a:p>
            <a:pPr>
              <a:defRPr sz="1500" b="1">
                <a:solidFill>
                  <a:srgbClr val="734BA5"/>
                </a:solidFill>
              </a:defRPr>
            </a:pPr>
            <a:r>
              <a:t>Prediction / forecast</a:t>
            </a:r>
          </a:p>
        </p:txBody>
      </p:sp>
      <p:sp>
        <p:nvSpPr>
          <p:cNvPr id="24" name="Right Arrow 23"/>
          <p:cNvSpPr/>
          <p:nvPr/>
        </p:nvSpPr>
        <p:spPr>
          <a:xfrm>
            <a:off x="7872983" y="2313432"/>
            <a:ext cx="256032" cy="292608"/>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110728" y="1828800"/>
            <a:ext cx="1645920" cy="13716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10728" y="1828800"/>
            <a:ext cx="64008" cy="1371600"/>
          </a:xfrm>
          <a:prstGeom prst="rect">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11896" y="1965960"/>
            <a:ext cx="1280160" cy="320040"/>
          </a:xfrm>
          <a:prstGeom prst="rect">
            <a:avLst/>
          </a:prstGeom>
          <a:noFill/>
        </p:spPr>
        <p:txBody>
          <a:bodyPr wrap="none">
            <a:spAutoFit/>
          </a:bodyPr>
          <a:lstStyle/>
          <a:p>
            <a:pPr>
              <a:defRPr sz="1500" b="1">
                <a:solidFill>
                  <a:srgbClr val="349AB4"/>
                </a:solidFill>
              </a:defRPr>
            </a:pPr>
            <a:r>
              <a:t>FastAPI</a:t>
            </a:r>
          </a:p>
        </p:txBody>
      </p:sp>
      <p:sp>
        <p:nvSpPr>
          <p:cNvPr id="28" name="Right Arrow 27"/>
          <p:cNvSpPr/>
          <p:nvPr/>
        </p:nvSpPr>
        <p:spPr>
          <a:xfrm>
            <a:off x="9774936" y="2313432"/>
            <a:ext cx="256032" cy="292608"/>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012680" y="1828800"/>
            <a:ext cx="1645920" cy="13716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012680" y="1828800"/>
            <a:ext cx="64008" cy="137160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213848" y="1965960"/>
            <a:ext cx="1280160" cy="320040"/>
          </a:xfrm>
          <a:prstGeom prst="rect">
            <a:avLst/>
          </a:prstGeom>
          <a:noFill/>
        </p:spPr>
        <p:txBody>
          <a:bodyPr wrap="none">
            <a:spAutoFit/>
          </a:bodyPr>
          <a:lstStyle/>
          <a:p>
            <a:pPr>
              <a:defRPr sz="1500" b="1">
                <a:solidFill>
                  <a:srgbClr val="143769"/>
                </a:solidFill>
              </a:defRPr>
            </a:pPr>
            <a:r>
              <a:t>Streamlit</a:t>
            </a:r>
          </a:p>
        </p:txBody>
      </p:sp>
      <p:sp>
        <p:nvSpPr>
          <p:cNvPr id="32" name="Rounded Rectangle 31"/>
          <p:cNvSpPr/>
          <p:nvPr/>
        </p:nvSpPr>
        <p:spPr>
          <a:xfrm>
            <a:off x="3429000" y="4160520"/>
            <a:ext cx="1645920" cy="11430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4160520"/>
            <a:ext cx="64008" cy="114300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30168" y="4297680"/>
            <a:ext cx="1280160" cy="320040"/>
          </a:xfrm>
          <a:prstGeom prst="rect">
            <a:avLst/>
          </a:prstGeom>
          <a:noFill/>
        </p:spPr>
        <p:txBody>
          <a:bodyPr wrap="none">
            <a:spAutoFit/>
          </a:bodyPr>
          <a:lstStyle/>
          <a:p>
            <a:pPr>
              <a:defRPr sz="1500" b="1">
                <a:solidFill>
                  <a:srgbClr val="734BA5"/>
                </a:solidFill>
              </a:defRPr>
            </a:pPr>
            <a:r>
              <a:t>Question</a:t>
            </a:r>
          </a:p>
        </p:txBody>
      </p:sp>
      <p:sp>
        <p:nvSpPr>
          <p:cNvPr id="35" name="Rounded Rectangle 34"/>
          <p:cNvSpPr/>
          <p:nvPr/>
        </p:nvSpPr>
        <p:spPr>
          <a:xfrm>
            <a:off x="5349240" y="4160520"/>
            <a:ext cx="1645920" cy="11430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349240" y="4160520"/>
            <a:ext cx="64008" cy="114300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550407" y="4297680"/>
            <a:ext cx="1280160" cy="320040"/>
          </a:xfrm>
          <a:prstGeom prst="rect">
            <a:avLst/>
          </a:prstGeom>
          <a:noFill/>
        </p:spPr>
        <p:txBody>
          <a:bodyPr wrap="none">
            <a:spAutoFit/>
          </a:bodyPr>
          <a:lstStyle/>
          <a:p>
            <a:pPr>
              <a:defRPr sz="1500" b="1">
                <a:solidFill>
                  <a:srgbClr val="DC782D"/>
                </a:solidFill>
              </a:defRPr>
            </a:pPr>
            <a:r>
              <a:t>Retrieve</a:t>
            </a:r>
          </a:p>
        </p:txBody>
      </p:sp>
      <p:sp>
        <p:nvSpPr>
          <p:cNvPr id="38" name="Rounded Rectangle 37"/>
          <p:cNvSpPr/>
          <p:nvPr/>
        </p:nvSpPr>
        <p:spPr>
          <a:xfrm>
            <a:off x="7269480" y="4160520"/>
            <a:ext cx="1645920" cy="11430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269480" y="4160520"/>
            <a:ext cx="64008" cy="114300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70648" y="4297680"/>
            <a:ext cx="1280160" cy="320040"/>
          </a:xfrm>
          <a:prstGeom prst="rect">
            <a:avLst/>
          </a:prstGeom>
          <a:noFill/>
        </p:spPr>
        <p:txBody>
          <a:bodyPr wrap="none">
            <a:spAutoFit/>
          </a:bodyPr>
          <a:lstStyle/>
          <a:p>
            <a:pPr>
              <a:defRPr sz="1500" b="1">
                <a:solidFill>
                  <a:srgbClr val="34824B"/>
                </a:solidFill>
              </a:defRPr>
            </a:pPr>
            <a:r>
              <a:t>Llama 3.2</a:t>
            </a:r>
          </a:p>
        </p:txBody>
      </p:sp>
      <p:sp>
        <p:nvSpPr>
          <p:cNvPr id="41" name="Rounded Rectangle 40"/>
          <p:cNvSpPr/>
          <p:nvPr/>
        </p:nvSpPr>
        <p:spPr>
          <a:xfrm>
            <a:off x="9189720" y="4160520"/>
            <a:ext cx="1645920" cy="11430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189720" y="4160520"/>
            <a:ext cx="64008" cy="1143000"/>
          </a:xfrm>
          <a:prstGeom prst="rect">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90888" y="4297680"/>
            <a:ext cx="1280160" cy="320040"/>
          </a:xfrm>
          <a:prstGeom prst="rect">
            <a:avLst/>
          </a:prstGeom>
          <a:noFill/>
        </p:spPr>
        <p:txBody>
          <a:bodyPr wrap="none">
            <a:spAutoFit/>
          </a:bodyPr>
          <a:lstStyle/>
          <a:p>
            <a:pPr>
              <a:defRPr sz="1500" b="1">
                <a:solidFill>
                  <a:srgbClr val="349AB4"/>
                </a:solidFill>
              </a:defRPr>
            </a:pPr>
            <a:r>
              <a:t>Answer</a:t>
            </a:r>
          </a:p>
        </p:txBody>
      </p:sp>
      <p:sp>
        <p:nvSpPr>
          <p:cNvPr id="44" name="Right Arrow 43"/>
          <p:cNvSpPr/>
          <p:nvPr/>
        </p:nvSpPr>
        <p:spPr>
          <a:xfrm>
            <a:off x="5074920" y="4553712"/>
            <a:ext cx="256032" cy="292608"/>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ight Arrow 44"/>
          <p:cNvSpPr/>
          <p:nvPr/>
        </p:nvSpPr>
        <p:spPr>
          <a:xfrm>
            <a:off x="6995160" y="4553712"/>
            <a:ext cx="256032" cy="292608"/>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ight Arrow 45"/>
          <p:cNvSpPr/>
          <p:nvPr/>
        </p:nvSpPr>
        <p:spPr>
          <a:xfrm>
            <a:off x="8915400" y="4553712"/>
            <a:ext cx="256032" cy="292608"/>
          </a:xfrm>
          <a:prstGeom prst="rightArrow">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2968954" cy="507831"/>
          </a:xfrm>
          <a:prstGeom prst="rect">
            <a:avLst/>
          </a:prstGeom>
          <a:noFill/>
        </p:spPr>
        <p:txBody>
          <a:bodyPr wrap="none">
            <a:spAutoFit/>
          </a:bodyPr>
          <a:lstStyle/>
          <a:p>
            <a:pPr>
              <a:defRPr sz="2700" b="1">
                <a:solidFill>
                  <a:srgbClr val="143769"/>
                </a:solidFill>
                <a:latin typeface="Aptos Display"/>
              </a:defRPr>
            </a:pPr>
            <a:r>
              <a:rPr dirty="0"/>
              <a:t>2</a:t>
            </a:r>
            <a:r>
              <a:rPr lang="en-US" dirty="0"/>
              <a:t>2</a:t>
            </a:r>
            <a:r>
              <a:rPr dirty="0"/>
              <a:t>. Overall Results</a:t>
            </a:r>
          </a:p>
        </p:txBody>
      </p:sp>
      <p:sp>
        <p:nvSpPr>
          <p:cNvPr id="5" name="Rectangle 4"/>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7" name="TextBox 6"/>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24</a:t>
            </a:r>
          </a:p>
        </p:txBody>
      </p:sp>
      <p:sp>
        <p:nvSpPr>
          <p:cNvPr id="8" name="Rounded Rectangle 7"/>
          <p:cNvSpPr/>
          <p:nvPr/>
        </p:nvSpPr>
        <p:spPr>
          <a:xfrm>
            <a:off x="640080" y="1188720"/>
            <a:ext cx="242316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307592"/>
            <a:ext cx="2203704" cy="256032"/>
          </a:xfrm>
          <a:prstGeom prst="rect">
            <a:avLst/>
          </a:prstGeom>
          <a:noFill/>
        </p:spPr>
        <p:txBody>
          <a:bodyPr wrap="none">
            <a:spAutoFit/>
          </a:bodyPr>
          <a:lstStyle/>
          <a:p>
            <a:pPr algn="ctr">
              <a:defRPr sz="1050">
                <a:solidFill>
                  <a:srgbClr val="646E7D"/>
                </a:solidFill>
              </a:defRPr>
            </a:pPr>
            <a:r>
              <a:t>Best ML R²</a:t>
            </a:r>
          </a:p>
        </p:txBody>
      </p:sp>
      <p:sp>
        <p:nvSpPr>
          <p:cNvPr id="10" name="TextBox 9"/>
          <p:cNvSpPr txBox="1"/>
          <p:nvPr/>
        </p:nvSpPr>
        <p:spPr>
          <a:xfrm>
            <a:off x="749808" y="1581912"/>
            <a:ext cx="2203704" cy="411480"/>
          </a:xfrm>
          <a:prstGeom prst="rect">
            <a:avLst/>
          </a:prstGeom>
          <a:noFill/>
        </p:spPr>
        <p:txBody>
          <a:bodyPr wrap="none">
            <a:spAutoFit/>
          </a:bodyPr>
          <a:lstStyle/>
          <a:p>
            <a:pPr algn="ctr">
              <a:defRPr sz="2100" b="1">
                <a:solidFill>
                  <a:srgbClr val="DC782D"/>
                </a:solidFill>
              </a:defRPr>
            </a:pPr>
            <a:r>
              <a:t>0.9571</a:t>
            </a:r>
          </a:p>
        </p:txBody>
      </p:sp>
      <p:sp>
        <p:nvSpPr>
          <p:cNvPr id="11" name="Rounded Rectangle 10"/>
          <p:cNvSpPr/>
          <p:nvPr/>
        </p:nvSpPr>
        <p:spPr>
          <a:xfrm>
            <a:off x="3337560" y="1188720"/>
            <a:ext cx="242316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47288" y="1307592"/>
            <a:ext cx="2203704" cy="256032"/>
          </a:xfrm>
          <a:prstGeom prst="rect">
            <a:avLst/>
          </a:prstGeom>
          <a:noFill/>
        </p:spPr>
        <p:txBody>
          <a:bodyPr wrap="none">
            <a:spAutoFit/>
          </a:bodyPr>
          <a:lstStyle/>
          <a:p>
            <a:pPr algn="ctr">
              <a:defRPr sz="1050">
                <a:solidFill>
                  <a:srgbClr val="646E7D"/>
                </a:solidFill>
              </a:defRPr>
            </a:pPr>
            <a:r>
              <a:t>LSTM R²</a:t>
            </a:r>
          </a:p>
        </p:txBody>
      </p:sp>
      <p:sp>
        <p:nvSpPr>
          <p:cNvPr id="13" name="TextBox 12"/>
          <p:cNvSpPr txBox="1"/>
          <p:nvPr/>
        </p:nvSpPr>
        <p:spPr>
          <a:xfrm>
            <a:off x="3447288" y="1581912"/>
            <a:ext cx="2203704" cy="411480"/>
          </a:xfrm>
          <a:prstGeom prst="rect">
            <a:avLst/>
          </a:prstGeom>
          <a:noFill/>
        </p:spPr>
        <p:txBody>
          <a:bodyPr wrap="none">
            <a:spAutoFit/>
          </a:bodyPr>
          <a:lstStyle/>
          <a:p>
            <a:pPr algn="ctr">
              <a:defRPr sz="2100" b="1">
                <a:solidFill>
                  <a:srgbClr val="34824B"/>
                </a:solidFill>
              </a:defRPr>
            </a:pPr>
            <a:r>
              <a:t>0.9460</a:t>
            </a:r>
          </a:p>
        </p:txBody>
      </p:sp>
      <p:sp>
        <p:nvSpPr>
          <p:cNvPr id="14" name="Rounded Rectangle 13"/>
          <p:cNvSpPr/>
          <p:nvPr/>
        </p:nvSpPr>
        <p:spPr>
          <a:xfrm>
            <a:off x="6035040" y="1188720"/>
            <a:ext cx="242316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44768" y="1307592"/>
            <a:ext cx="2203704" cy="256032"/>
          </a:xfrm>
          <a:prstGeom prst="rect">
            <a:avLst/>
          </a:prstGeom>
          <a:noFill/>
        </p:spPr>
        <p:txBody>
          <a:bodyPr wrap="none">
            <a:spAutoFit/>
          </a:bodyPr>
          <a:lstStyle/>
          <a:p>
            <a:pPr algn="ctr">
              <a:defRPr sz="1050">
                <a:solidFill>
                  <a:srgbClr val="646E7D"/>
                </a:solidFill>
              </a:defRPr>
            </a:pPr>
            <a:r>
              <a:t>KB size</a:t>
            </a:r>
          </a:p>
        </p:txBody>
      </p:sp>
      <p:sp>
        <p:nvSpPr>
          <p:cNvPr id="16" name="TextBox 15"/>
          <p:cNvSpPr txBox="1"/>
          <p:nvPr/>
        </p:nvSpPr>
        <p:spPr>
          <a:xfrm>
            <a:off x="6144768" y="1581912"/>
            <a:ext cx="2203704" cy="411480"/>
          </a:xfrm>
          <a:prstGeom prst="rect">
            <a:avLst/>
          </a:prstGeom>
          <a:noFill/>
        </p:spPr>
        <p:txBody>
          <a:bodyPr wrap="none">
            <a:spAutoFit/>
          </a:bodyPr>
          <a:lstStyle/>
          <a:p>
            <a:pPr algn="ctr">
              <a:defRPr sz="2100" b="1">
                <a:solidFill>
                  <a:srgbClr val="2D63BE"/>
                </a:solidFill>
              </a:defRPr>
            </a:pPr>
            <a:r>
              <a:t>24,247 chars</a:t>
            </a:r>
          </a:p>
        </p:txBody>
      </p:sp>
      <p:sp>
        <p:nvSpPr>
          <p:cNvPr id="17" name="Rounded Rectangle 16"/>
          <p:cNvSpPr/>
          <p:nvPr/>
        </p:nvSpPr>
        <p:spPr>
          <a:xfrm>
            <a:off x="8732520" y="1188720"/>
            <a:ext cx="2423160" cy="96012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42248" y="1307592"/>
            <a:ext cx="2203704" cy="256032"/>
          </a:xfrm>
          <a:prstGeom prst="rect">
            <a:avLst/>
          </a:prstGeom>
          <a:noFill/>
        </p:spPr>
        <p:txBody>
          <a:bodyPr wrap="none">
            <a:spAutoFit/>
          </a:bodyPr>
          <a:lstStyle/>
          <a:p>
            <a:pPr algn="ctr">
              <a:defRPr sz="1050">
                <a:solidFill>
                  <a:srgbClr val="646E7D"/>
                </a:solidFill>
              </a:defRPr>
            </a:pPr>
            <a:r>
              <a:t>RAG chunks</a:t>
            </a:r>
          </a:p>
        </p:txBody>
      </p:sp>
      <p:sp>
        <p:nvSpPr>
          <p:cNvPr id="19" name="TextBox 18"/>
          <p:cNvSpPr txBox="1"/>
          <p:nvPr/>
        </p:nvSpPr>
        <p:spPr>
          <a:xfrm>
            <a:off x="8842248" y="1581912"/>
            <a:ext cx="2203704" cy="411480"/>
          </a:xfrm>
          <a:prstGeom prst="rect">
            <a:avLst/>
          </a:prstGeom>
          <a:noFill/>
        </p:spPr>
        <p:txBody>
          <a:bodyPr wrap="none">
            <a:spAutoFit/>
          </a:bodyPr>
          <a:lstStyle/>
          <a:p>
            <a:pPr algn="ctr">
              <a:defRPr sz="2100" b="1">
                <a:solidFill>
                  <a:srgbClr val="734BA5"/>
                </a:solidFill>
              </a:defRPr>
            </a:pPr>
            <a:r>
              <a:t>20</a:t>
            </a:r>
          </a:p>
        </p:txBody>
      </p:sp>
      <p:sp>
        <p:nvSpPr>
          <p:cNvPr id="20" name="Rounded Rectangle 19"/>
          <p:cNvSpPr/>
          <p:nvPr/>
        </p:nvSpPr>
        <p:spPr>
          <a:xfrm>
            <a:off x="640080" y="2560320"/>
            <a:ext cx="5212080" cy="24688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2560320"/>
            <a:ext cx="64008" cy="246888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2697479"/>
            <a:ext cx="4846320" cy="320040"/>
          </a:xfrm>
          <a:prstGeom prst="rect">
            <a:avLst/>
          </a:prstGeom>
          <a:noFill/>
        </p:spPr>
        <p:txBody>
          <a:bodyPr wrap="none">
            <a:spAutoFit/>
          </a:bodyPr>
          <a:lstStyle/>
          <a:p>
            <a:pPr>
              <a:defRPr sz="1500" b="1">
                <a:solidFill>
                  <a:srgbClr val="DC782D"/>
                </a:solidFill>
              </a:defRPr>
            </a:pPr>
            <a:r>
              <a:t>Prediction &amp; forecasting</a:t>
            </a:r>
          </a:p>
        </p:txBody>
      </p:sp>
      <p:sp>
        <p:nvSpPr>
          <p:cNvPr id="23" name="TextBox 22"/>
          <p:cNvSpPr txBox="1"/>
          <p:nvPr/>
        </p:nvSpPr>
        <p:spPr>
          <a:xfrm>
            <a:off x="841247" y="3090672"/>
            <a:ext cx="4846320" cy="1143000"/>
          </a:xfrm>
          <a:prstGeom prst="rect">
            <a:avLst/>
          </a:prstGeom>
          <a:noFill/>
        </p:spPr>
        <p:txBody>
          <a:bodyPr wrap="square">
            <a:spAutoFit/>
          </a:bodyPr>
          <a:lstStyle/>
          <a:p>
            <a:pPr>
              <a:defRPr sz="1150">
                <a:solidFill>
                  <a:srgbClr val="232A34"/>
                </a:solidFill>
              </a:defRPr>
            </a:pPr>
            <a:r>
              <a:rPr sz="1200"/>
              <a:t>XGBoost provided the strongest tabular ML result. LSTM achieved strong sequential forecasting using 24-hour windows.</a:t>
            </a:r>
          </a:p>
          <a:p>
            <a:r>
              <a:rPr sz="1200"/>
              <a:t>ARIMA was included as a classical baseline and achieved test R² = -1.2751, indicating weaker performance on this dataset.</a:t>
            </a:r>
          </a:p>
        </p:txBody>
      </p:sp>
      <p:sp>
        <p:nvSpPr>
          <p:cNvPr id="24" name="Rounded Rectangle 23"/>
          <p:cNvSpPr/>
          <p:nvPr/>
        </p:nvSpPr>
        <p:spPr>
          <a:xfrm>
            <a:off x="6172200" y="2560320"/>
            <a:ext cx="5212080" cy="24688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72200" y="2560320"/>
            <a:ext cx="64008" cy="24688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73368" y="2697479"/>
            <a:ext cx="4846320" cy="320040"/>
          </a:xfrm>
          <a:prstGeom prst="rect">
            <a:avLst/>
          </a:prstGeom>
          <a:noFill/>
        </p:spPr>
        <p:txBody>
          <a:bodyPr wrap="none">
            <a:spAutoFit/>
          </a:bodyPr>
          <a:lstStyle/>
          <a:p>
            <a:pPr>
              <a:defRPr sz="1500" b="1">
                <a:solidFill>
                  <a:srgbClr val="34824B"/>
                </a:solidFill>
              </a:defRPr>
            </a:pPr>
            <a:r>
              <a:t>GenAI &amp; deployment</a:t>
            </a:r>
          </a:p>
        </p:txBody>
      </p:sp>
      <p:sp>
        <p:nvSpPr>
          <p:cNvPr id="27" name="TextBox 26"/>
          <p:cNvSpPr txBox="1"/>
          <p:nvPr/>
        </p:nvSpPr>
        <p:spPr>
          <a:xfrm>
            <a:off x="6373368" y="3090672"/>
            <a:ext cx="4846320" cy="1810512"/>
          </a:xfrm>
          <a:prstGeom prst="rect">
            <a:avLst/>
          </a:prstGeom>
          <a:noFill/>
        </p:spPr>
        <p:txBody>
          <a:bodyPr wrap="square">
            <a:spAutoFit/>
          </a:bodyPr>
          <a:lstStyle/>
          <a:p>
            <a:pPr>
              <a:defRPr sz="1150">
                <a:solidFill>
                  <a:srgbClr val="232A34"/>
                </a:solidFill>
              </a:defRPr>
            </a:pPr>
            <a:r>
              <a:t>A local Llama 3.2 assistant was connected to retrieved traffic knowledge. FastAPI unified the backend and Streamlit provided the user interface.</a:t>
            </a:r>
          </a:p>
        </p:txBody>
      </p:sp>
      <p:sp>
        <p:nvSpPr>
          <p:cNvPr id="28" name="Rounded Rectangle 27"/>
          <p:cNvSpPr/>
          <p:nvPr/>
        </p:nvSpPr>
        <p:spPr>
          <a:xfrm>
            <a:off x="1828800" y="5394960"/>
            <a:ext cx="8503920" cy="68580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828800" y="5394960"/>
            <a:ext cx="64008" cy="68580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29968" y="5532120"/>
            <a:ext cx="8138160" cy="320040"/>
          </a:xfrm>
          <a:prstGeom prst="rect">
            <a:avLst/>
          </a:prstGeom>
          <a:noFill/>
        </p:spPr>
        <p:txBody>
          <a:bodyPr wrap="none">
            <a:spAutoFit/>
          </a:bodyPr>
          <a:lstStyle/>
          <a:p>
            <a:pPr>
              <a:defRPr sz="1500" b="1">
                <a:solidFill>
                  <a:srgbClr val="143769"/>
                </a:solidFill>
              </a:defRPr>
            </a:pPr>
            <a:r>
              <a:t>System outcome</a:t>
            </a:r>
          </a:p>
        </p:txBody>
      </p:sp>
      <p:sp>
        <p:nvSpPr>
          <p:cNvPr id="31" name="TextBox 30"/>
          <p:cNvSpPr txBox="1"/>
          <p:nvPr/>
        </p:nvSpPr>
        <p:spPr>
          <a:xfrm>
            <a:off x="2029968" y="5925312"/>
            <a:ext cx="8138160" cy="27432"/>
          </a:xfrm>
          <a:prstGeom prst="rect">
            <a:avLst/>
          </a:prstGeom>
          <a:noFill/>
        </p:spPr>
        <p:txBody>
          <a:bodyPr wrap="square">
            <a:spAutoFit/>
          </a:bodyPr>
          <a:lstStyle/>
          <a:p>
            <a:pPr>
              <a:defRPr sz="1150">
                <a:solidFill>
                  <a:srgbClr val="232A34"/>
                </a:solidFill>
              </a:defRPr>
            </a:pPr>
            <a:r>
              <a:t>A working integrated prototype spanning data processing → AI models → RAG assistant → REST API → dashboard.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2663358" cy="507831"/>
          </a:xfrm>
          <a:prstGeom prst="rect">
            <a:avLst/>
          </a:prstGeom>
          <a:noFill/>
        </p:spPr>
        <p:txBody>
          <a:bodyPr wrap="none">
            <a:spAutoFit/>
          </a:bodyPr>
          <a:lstStyle/>
          <a:p>
            <a:pPr>
              <a:defRPr sz="2700" b="1">
                <a:solidFill>
                  <a:srgbClr val="143769"/>
                </a:solidFill>
                <a:latin typeface="Aptos Display"/>
              </a:defRPr>
            </a:pPr>
            <a:r>
              <a:rPr dirty="0"/>
              <a:t>2</a:t>
            </a:r>
            <a:r>
              <a:rPr lang="en-US" dirty="0"/>
              <a:t>3</a:t>
            </a:r>
            <a:r>
              <a:rPr dirty="0"/>
              <a:t>. Future Scope</a:t>
            </a:r>
          </a:p>
        </p:txBody>
      </p:sp>
      <p:sp>
        <p:nvSpPr>
          <p:cNvPr id="5" name="Rectangle 4"/>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7" name="TextBox 6"/>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26</a:t>
            </a:r>
          </a:p>
        </p:txBody>
      </p:sp>
      <p:sp>
        <p:nvSpPr>
          <p:cNvPr id="8" name="Rounded Rectangle 7"/>
          <p:cNvSpPr/>
          <p:nvPr/>
        </p:nvSpPr>
        <p:spPr>
          <a:xfrm>
            <a:off x="640080" y="1234440"/>
            <a:ext cx="5212080" cy="868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234440"/>
            <a:ext cx="64008" cy="868680"/>
          </a:xfrm>
          <a:prstGeom prst="rect">
            <a:avLst/>
          </a:prstGeom>
          <a:solidFill>
            <a:srgbClr val="2D6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371600"/>
            <a:ext cx="4846320" cy="320040"/>
          </a:xfrm>
          <a:prstGeom prst="rect">
            <a:avLst/>
          </a:prstGeom>
          <a:noFill/>
        </p:spPr>
        <p:txBody>
          <a:bodyPr wrap="none">
            <a:spAutoFit/>
          </a:bodyPr>
          <a:lstStyle/>
          <a:p>
            <a:pPr>
              <a:defRPr sz="1500" b="1">
                <a:solidFill>
                  <a:srgbClr val="2D63BE"/>
                </a:solidFill>
              </a:defRPr>
            </a:pPr>
            <a:r>
              <a:t>Real-time traffic APIs and live weather data</a:t>
            </a:r>
          </a:p>
        </p:txBody>
      </p:sp>
      <p:sp>
        <p:nvSpPr>
          <p:cNvPr id="11" name="Rounded Rectangle 10"/>
          <p:cNvSpPr/>
          <p:nvPr/>
        </p:nvSpPr>
        <p:spPr>
          <a:xfrm>
            <a:off x="6217920" y="1234440"/>
            <a:ext cx="5212080" cy="868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234440"/>
            <a:ext cx="64008" cy="868680"/>
          </a:xfrm>
          <a:prstGeom prst="rect">
            <a:avLst/>
          </a:prstGeom>
          <a:solidFill>
            <a:srgbClr val="348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371600"/>
            <a:ext cx="4846320" cy="320040"/>
          </a:xfrm>
          <a:prstGeom prst="rect">
            <a:avLst/>
          </a:prstGeom>
          <a:noFill/>
        </p:spPr>
        <p:txBody>
          <a:bodyPr wrap="none">
            <a:spAutoFit/>
          </a:bodyPr>
          <a:lstStyle/>
          <a:p>
            <a:pPr>
              <a:defRPr sz="1500" b="1">
                <a:solidFill>
                  <a:srgbClr val="34824B"/>
                </a:solidFill>
              </a:defRPr>
            </a:pPr>
            <a:r>
              <a:t>CCTV/video-based vehicle detection using YOLO</a:t>
            </a:r>
          </a:p>
        </p:txBody>
      </p:sp>
      <p:sp>
        <p:nvSpPr>
          <p:cNvPr id="14" name="Rounded Rectangle 13"/>
          <p:cNvSpPr/>
          <p:nvPr/>
        </p:nvSpPr>
        <p:spPr>
          <a:xfrm>
            <a:off x="640080" y="2377440"/>
            <a:ext cx="5212080" cy="868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2377440"/>
            <a:ext cx="64008" cy="868680"/>
          </a:xfrm>
          <a:prstGeom prst="rect">
            <a:avLst/>
          </a:prstGeom>
          <a:solidFill>
            <a:srgbClr val="DC7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7" y="2514600"/>
            <a:ext cx="4846320" cy="320040"/>
          </a:xfrm>
          <a:prstGeom prst="rect">
            <a:avLst/>
          </a:prstGeom>
          <a:noFill/>
        </p:spPr>
        <p:txBody>
          <a:bodyPr wrap="none">
            <a:spAutoFit/>
          </a:bodyPr>
          <a:lstStyle/>
          <a:p>
            <a:pPr>
              <a:defRPr sz="1500" b="1">
                <a:solidFill>
                  <a:srgbClr val="DC782D"/>
                </a:solidFill>
              </a:defRPr>
            </a:pPr>
            <a:r>
              <a:t>Transformer-based time-series forecasting</a:t>
            </a:r>
          </a:p>
        </p:txBody>
      </p:sp>
      <p:sp>
        <p:nvSpPr>
          <p:cNvPr id="17" name="Rounded Rectangle 16"/>
          <p:cNvSpPr/>
          <p:nvPr/>
        </p:nvSpPr>
        <p:spPr>
          <a:xfrm>
            <a:off x="6217920" y="2377440"/>
            <a:ext cx="5212080" cy="868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2377440"/>
            <a:ext cx="64008" cy="868680"/>
          </a:xfrm>
          <a:prstGeom prst="rect">
            <a:avLst/>
          </a:prstGeom>
          <a:solidFill>
            <a:srgbClr val="734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9088" y="2514600"/>
            <a:ext cx="4846320" cy="320040"/>
          </a:xfrm>
          <a:prstGeom prst="rect">
            <a:avLst/>
          </a:prstGeom>
          <a:noFill/>
        </p:spPr>
        <p:txBody>
          <a:bodyPr wrap="none">
            <a:spAutoFit/>
          </a:bodyPr>
          <a:lstStyle/>
          <a:p>
            <a:pPr>
              <a:defRPr sz="1500" b="1">
                <a:solidFill>
                  <a:srgbClr val="734BA5"/>
                </a:solidFill>
              </a:defRPr>
            </a:pPr>
            <a:r>
              <a:t>Real-time congestion alerts</a:t>
            </a:r>
          </a:p>
        </p:txBody>
      </p:sp>
      <p:sp>
        <p:nvSpPr>
          <p:cNvPr id="20" name="Rounded Rectangle 19"/>
          <p:cNvSpPr/>
          <p:nvPr/>
        </p:nvSpPr>
        <p:spPr>
          <a:xfrm>
            <a:off x="640080" y="3520440"/>
            <a:ext cx="5212080" cy="868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520440"/>
            <a:ext cx="64008" cy="868680"/>
          </a:xfrm>
          <a:prstGeom prst="rect">
            <a:avLst/>
          </a:prstGeom>
          <a:solidFill>
            <a:srgbClr val="349A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3657600"/>
            <a:ext cx="4846320" cy="320040"/>
          </a:xfrm>
          <a:prstGeom prst="rect">
            <a:avLst/>
          </a:prstGeom>
          <a:noFill/>
        </p:spPr>
        <p:txBody>
          <a:bodyPr wrap="none">
            <a:spAutoFit/>
          </a:bodyPr>
          <a:lstStyle/>
          <a:p>
            <a:pPr>
              <a:defRPr sz="1500" b="1">
                <a:solidFill>
                  <a:srgbClr val="349AB4"/>
                </a:solidFill>
              </a:defRPr>
            </a:pPr>
            <a:r>
              <a:t>Verified route optimization</a:t>
            </a:r>
          </a:p>
        </p:txBody>
      </p:sp>
      <p:sp>
        <p:nvSpPr>
          <p:cNvPr id="23" name="Rounded Rectangle 22"/>
          <p:cNvSpPr/>
          <p:nvPr/>
        </p:nvSpPr>
        <p:spPr>
          <a:xfrm>
            <a:off x="6217920" y="3520440"/>
            <a:ext cx="5212080" cy="868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17920" y="3520440"/>
            <a:ext cx="64008" cy="868680"/>
          </a:xfrm>
          <a:prstGeom prst="rect">
            <a:avLst/>
          </a:prstGeom>
          <a:solidFill>
            <a:srgbClr val="BE3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19088" y="3657600"/>
            <a:ext cx="4846320" cy="320040"/>
          </a:xfrm>
          <a:prstGeom prst="rect">
            <a:avLst/>
          </a:prstGeom>
          <a:noFill/>
        </p:spPr>
        <p:txBody>
          <a:bodyPr wrap="none">
            <a:spAutoFit/>
          </a:bodyPr>
          <a:lstStyle/>
          <a:p>
            <a:pPr>
              <a:defRPr sz="1500" b="1">
                <a:solidFill>
                  <a:srgbClr val="BE3741"/>
                </a:solidFill>
              </a:defRPr>
            </a:pPr>
            <a:r>
              <a:t>Smart-city infrastructure integration</a:t>
            </a:r>
          </a:p>
        </p:txBody>
      </p:sp>
      <p:sp>
        <p:nvSpPr>
          <p:cNvPr id="26" name="Rounded Rectangle 25"/>
          <p:cNvSpPr/>
          <p:nvPr/>
        </p:nvSpPr>
        <p:spPr>
          <a:xfrm>
            <a:off x="640080" y="4663440"/>
            <a:ext cx="5212080" cy="868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 y="4663440"/>
            <a:ext cx="64008" cy="86868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1247" y="4800600"/>
            <a:ext cx="4846320" cy="320040"/>
          </a:xfrm>
          <a:prstGeom prst="rect">
            <a:avLst/>
          </a:prstGeom>
          <a:noFill/>
        </p:spPr>
        <p:txBody>
          <a:bodyPr wrap="none">
            <a:spAutoFit/>
          </a:bodyPr>
          <a:lstStyle/>
          <a:p>
            <a:pPr>
              <a:defRPr sz="1500" b="1">
                <a:solidFill>
                  <a:srgbClr val="143769"/>
                </a:solidFill>
              </a:defRPr>
            </a:pPr>
            <a:r>
              <a:t>Mobile application</a:t>
            </a:r>
          </a:p>
        </p:txBody>
      </p:sp>
      <p:sp>
        <p:nvSpPr>
          <p:cNvPr id="29" name="Rounded Rectangle 28"/>
          <p:cNvSpPr/>
          <p:nvPr/>
        </p:nvSpPr>
        <p:spPr>
          <a:xfrm>
            <a:off x="6217920" y="4663440"/>
            <a:ext cx="5212080" cy="86868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17920" y="4663440"/>
            <a:ext cx="64008" cy="868680"/>
          </a:xfrm>
          <a:prstGeom prst="rect">
            <a:avLst/>
          </a:prstGeom>
          <a:solidFill>
            <a:srgbClr val="BE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19088" y="4800600"/>
            <a:ext cx="4846320" cy="320040"/>
          </a:xfrm>
          <a:prstGeom prst="rect">
            <a:avLst/>
          </a:prstGeom>
          <a:noFill/>
        </p:spPr>
        <p:txBody>
          <a:bodyPr wrap="none">
            <a:spAutoFit/>
          </a:bodyPr>
          <a:lstStyle/>
          <a:p>
            <a:pPr>
              <a:defRPr sz="1500" b="1">
                <a:solidFill>
                  <a:srgbClr val="BE8C28"/>
                </a:solidFill>
              </a:defRPr>
            </a:pPr>
            <a:r>
              <a:t>Cloud deployment and scalable vector database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3285708" cy="507831"/>
          </a:xfrm>
          <a:prstGeom prst="rect">
            <a:avLst/>
          </a:prstGeom>
          <a:noFill/>
        </p:spPr>
        <p:txBody>
          <a:bodyPr wrap="none">
            <a:spAutoFit/>
          </a:bodyPr>
          <a:lstStyle/>
          <a:p>
            <a:pPr>
              <a:defRPr sz="2700" b="1">
                <a:solidFill>
                  <a:srgbClr val="143769"/>
                </a:solidFill>
                <a:latin typeface="Aptos Display"/>
              </a:defRPr>
            </a:pPr>
            <a:r>
              <a:rPr dirty="0"/>
              <a:t>2</a:t>
            </a:r>
            <a:r>
              <a:rPr lang="en-US" dirty="0"/>
              <a:t>4</a:t>
            </a:r>
            <a:r>
              <a:rPr dirty="0"/>
              <a:t>. Technology Stack</a:t>
            </a:r>
          </a:p>
        </p:txBody>
      </p:sp>
      <p:sp>
        <p:nvSpPr>
          <p:cNvPr id="5" name="Rectangle 4"/>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7" name="TextBox 6"/>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27</a:t>
            </a:r>
          </a:p>
        </p:txBody>
      </p:sp>
      <p:graphicFrame>
        <p:nvGraphicFramePr>
          <p:cNvPr id="8" name="Table 7"/>
          <p:cNvGraphicFramePr>
            <a:graphicFrameLocks noGrp="1"/>
          </p:cNvGraphicFramePr>
          <p:nvPr>
            <p:extLst>
              <p:ext uri="{D42A27DB-BD31-4B8C-83A1-F6EECF244321}">
                <p14:modId xmlns:p14="http://schemas.microsoft.com/office/powerpoint/2010/main" val="1949636592"/>
              </p:ext>
            </p:extLst>
          </p:nvPr>
        </p:nvGraphicFramePr>
        <p:xfrm>
          <a:off x="822960" y="1143000"/>
          <a:ext cx="10332720" cy="5212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473825">
                <a:tc>
                  <a:txBody>
                    <a:bodyPr/>
                    <a:lstStyle/>
                    <a:p>
                      <a:pPr algn="ctr">
                        <a:defRPr sz="1400" b="1">
                          <a:solidFill>
                            <a:srgbClr val="FFFFFF"/>
                          </a:solidFill>
                          <a:latin typeface="Aptos"/>
                        </a:defRPr>
                      </a:pPr>
                      <a:r>
                        <a:t>Layer</a:t>
                      </a:r>
                    </a:p>
                  </a:txBody>
                  <a:tcPr marL="54864" marR="36576" marT="36576" marB="27432">
                    <a:solidFill>
                      <a:srgbClr val="143769"/>
                    </a:solidFill>
                  </a:tcPr>
                </a:tc>
                <a:tc>
                  <a:txBody>
                    <a:bodyPr/>
                    <a:lstStyle/>
                    <a:p>
                      <a:pPr algn="ctr">
                        <a:defRPr sz="1400" b="1">
                          <a:solidFill>
                            <a:srgbClr val="FFFFFF"/>
                          </a:solidFill>
                          <a:latin typeface="Aptos"/>
                        </a:defRPr>
                      </a:pPr>
                      <a:r>
                        <a:t>Implemented / used</a:t>
                      </a:r>
                    </a:p>
                  </a:txBody>
                  <a:tcPr marL="54864" marR="36576" marT="36576" marB="27432">
                    <a:solidFill>
                      <a:srgbClr val="143769"/>
                    </a:solidFill>
                  </a:tcPr>
                </a:tc>
                <a:extLst>
                  <a:ext uri="{0D108BD9-81ED-4DB2-BD59-A6C34878D82A}">
                    <a16:rowId xmlns:a16="http://schemas.microsoft.com/office/drawing/2014/main" val="10000"/>
                  </a:ext>
                </a:extLst>
              </a:tr>
              <a:tr h="473825">
                <a:tc>
                  <a:txBody>
                    <a:bodyPr/>
                    <a:lstStyle/>
                    <a:p>
                      <a:pPr algn="ctr">
                        <a:defRPr sz="1400" b="0">
                          <a:solidFill>
                            <a:srgbClr val="232A34"/>
                          </a:solidFill>
                          <a:latin typeface="Aptos"/>
                        </a:defRPr>
                      </a:pPr>
                      <a:r>
                        <a:t>Language</a:t>
                      </a:r>
                    </a:p>
                  </a:txBody>
                  <a:tcPr marL="54864" marR="36576" marT="36576" marB="27432">
                    <a:solidFill>
                      <a:srgbClr val="F6F8FC"/>
                    </a:solidFill>
                  </a:tcPr>
                </a:tc>
                <a:tc>
                  <a:txBody>
                    <a:bodyPr/>
                    <a:lstStyle/>
                    <a:p>
                      <a:pPr algn="ctr">
                        <a:defRPr sz="1400" b="0">
                          <a:solidFill>
                            <a:srgbClr val="232A34"/>
                          </a:solidFill>
                          <a:latin typeface="Aptos"/>
                        </a:defRPr>
                      </a:pPr>
                      <a:r>
                        <a:t>Python</a:t>
                      </a:r>
                    </a:p>
                  </a:txBody>
                  <a:tcPr marL="54864" marR="36576" marT="36576" marB="27432">
                    <a:solidFill>
                      <a:srgbClr val="F6F8FC"/>
                    </a:solidFill>
                  </a:tcPr>
                </a:tc>
                <a:extLst>
                  <a:ext uri="{0D108BD9-81ED-4DB2-BD59-A6C34878D82A}">
                    <a16:rowId xmlns:a16="http://schemas.microsoft.com/office/drawing/2014/main" val="10001"/>
                  </a:ext>
                </a:extLst>
              </a:tr>
              <a:tr h="473825">
                <a:tc>
                  <a:txBody>
                    <a:bodyPr/>
                    <a:lstStyle/>
                    <a:p>
                      <a:pPr algn="ctr">
                        <a:defRPr sz="1400" b="0">
                          <a:solidFill>
                            <a:srgbClr val="232A34"/>
                          </a:solidFill>
                          <a:latin typeface="Aptos"/>
                        </a:defRPr>
                      </a:pPr>
                      <a:r>
                        <a:t>Data processing</a:t>
                      </a:r>
                    </a:p>
                  </a:txBody>
                  <a:tcPr marL="54864" marR="36576" marT="36576" marB="27432">
                    <a:solidFill>
                      <a:srgbClr val="FFFFFF"/>
                    </a:solidFill>
                  </a:tcPr>
                </a:tc>
                <a:tc>
                  <a:txBody>
                    <a:bodyPr/>
                    <a:lstStyle/>
                    <a:p>
                      <a:pPr algn="ctr">
                        <a:defRPr sz="1400" b="0">
                          <a:solidFill>
                            <a:srgbClr val="232A34"/>
                          </a:solidFill>
                          <a:latin typeface="Aptos"/>
                        </a:defRPr>
                      </a:pPr>
                      <a:r>
                        <a:t>Pandas, NumPy</a:t>
                      </a:r>
                    </a:p>
                  </a:txBody>
                  <a:tcPr marL="54864" marR="36576" marT="36576" marB="27432">
                    <a:solidFill>
                      <a:srgbClr val="FFFFFF"/>
                    </a:solidFill>
                  </a:tcPr>
                </a:tc>
                <a:extLst>
                  <a:ext uri="{0D108BD9-81ED-4DB2-BD59-A6C34878D82A}">
                    <a16:rowId xmlns:a16="http://schemas.microsoft.com/office/drawing/2014/main" val="10002"/>
                  </a:ext>
                </a:extLst>
              </a:tr>
              <a:tr h="473825">
                <a:tc>
                  <a:txBody>
                    <a:bodyPr/>
                    <a:lstStyle/>
                    <a:p>
                      <a:pPr algn="ctr">
                        <a:defRPr sz="1400" b="0">
                          <a:solidFill>
                            <a:srgbClr val="232A34"/>
                          </a:solidFill>
                          <a:latin typeface="Aptos"/>
                        </a:defRPr>
                      </a:pPr>
                      <a:r>
                        <a:t>Analysis &amp; ML</a:t>
                      </a:r>
                    </a:p>
                  </a:txBody>
                  <a:tcPr marL="54864" marR="36576" marT="36576" marB="27432">
                    <a:solidFill>
                      <a:srgbClr val="F6F8FC"/>
                    </a:solidFill>
                  </a:tcPr>
                </a:tc>
                <a:tc>
                  <a:txBody>
                    <a:bodyPr/>
                    <a:lstStyle/>
                    <a:p>
                      <a:pPr algn="ctr">
                        <a:defRPr sz="1400" b="0">
                          <a:solidFill>
                            <a:srgbClr val="232A34"/>
                          </a:solidFill>
                          <a:latin typeface="Aptos"/>
                        </a:defRPr>
                      </a:pPr>
                      <a:r>
                        <a:t>Scikit-learn, XGBoost, LightGBM, CatBoost</a:t>
                      </a:r>
                    </a:p>
                  </a:txBody>
                  <a:tcPr marL="54864" marR="36576" marT="36576" marB="27432">
                    <a:solidFill>
                      <a:srgbClr val="F6F8FC"/>
                    </a:solidFill>
                  </a:tcPr>
                </a:tc>
                <a:extLst>
                  <a:ext uri="{0D108BD9-81ED-4DB2-BD59-A6C34878D82A}">
                    <a16:rowId xmlns:a16="http://schemas.microsoft.com/office/drawing/2014/main" val="10003"/>
                  </a:ext>
                </a:extLst>
              </a:tr>
              <a:tr h="473825">
                <a:tc>
                  <a:txBody>
                    <a:bodyPr/>
                    <a:lstStyle/>
                    <a:p>
                      <a:pPr algn="ctr">
                        <a:defRPr sz="1400" b="0">
                          <a:solidFill>
                            <a:srgbClr val="232A34"/>
                          </a:solidFill>
                          <a:latin typeface="Aptos"/>
                        </a:defRPr>
                      </a:pPr>
                      <a:r>
                        <a:t>Deep learning</a:t>
                      </a:r>
                    </a:p>
                  </a:txBody>
                  <a:tcPr marL="54864" marR="36576" marT="36576" marB="27432">
                    <a:solidFill>
                      <a:srgbClr val="FFFFFF"/>
                    </a:solidFill>
                  </a:tcPr>
                </a:tc>
                <a:tc>
                  <a:txBody>
                    <a:bodyPr/>
                    <a:lstStyle/>
                    <a:p>
                      <a:pPr algn="ctr">
                        <a:defRPr sz="1400" b="0">
                          <a:solidFill>
                            <a:srgbClr val="232A34"/>
                          </a:solidFill>
                          <a:latin typeface="Aptos"/>
                        </a:defRPr>
                      </a:pPr>
                      <a:r>
                        <a:t>TensorFlow / Keras, LSTM</a:t>
                      </a:r>
                    </a:p>
                  </a:txBody>
                  <a:tcPr marL="54864" marR="36576" marT="36576" marB="27432">
                    <a:solidFill>
                      <a:srgbClr val="FFFFFF"/>
                    </a:solidFill>
                  </a:tcPr>
                </a:tc>
                <a:extLst>
                  <a:ext uri="{0D108BD9-81ED-4DB2-BD59-A6C34878D82A}">
                    <a16:rowId xmlns:a16="http://schemas.microsoft.com/office/drawing/2014/main" val="10004"/>
                  </a:ext>
                </a:extLst>
              </a:tr>
              <a:tr h="473825">
                <a:tc>
                  <a:txBody>
                    <a:bodyPr/>
                    <a:lstStyle/>
                    <a:p>
                      <a:pPr algn="ctr">
                        <a:defRPr sz="1400" b="0">
                          <a:solidFill>
                            <a:srgbClr val="232A34"/>
                          </a:solidFill>
                          <a:latin typeface="Aptos"/>
                        </a:defRPr>
                      </a:pPr>
                      <a:r>
                        <a:t>GenAI</a:t>
                      </a:r>
                    </a:p>
                  </a:txBody>
                  <a:tcPr marL="54864" marR="36576" marT="36576" marB="27432">
                    <a:solidFill>
                      <a:srgbClr val="F6F8FC"/>
                    </a:solidFill>
                  </a:tcPr>
                </a:tc>
                <a:tc>
                  <a:txBody>
                    <a:bodyPr/>
                    <a:lstStyle/>
                    <a:p>
                      <a:pPr algn="ctr">
                        <a:defRPr sz="1400" b="0">
                          <a:solidFill>
                            <a:srgbClr val="232A34"/>
                          </a:solidFill>
                          <a:latin typeface="Aptos"/>
                        </a:defRPr>
                      </a:pPr>
                      <a:r>
                        <a:t>Ollama, Llama 3.2</a:t>
                      </a:r>
                    </a:p>
                  </a:txBody>
                  <a:tcPr marL="54864" marR="36576" marT="36576" marB="27432">
                    <a:solidFill>
                      <a:srgbClr val="F6F8FC"/>
                    </a:solidFill>
                  </a:tcPr>
                </a:tc>
                <a:extLst>
                  <a:ext uri="{0D108BD9-81ED-4DB2-BD59-A6C34878D82A}">
                    <a16:rowId xmlns:a16="http://schemas.microsoft.com/office/drawing/2014/main" val="10005"/>
                  </a:ext>
                </a:extLst>
              </a:tr>
              <a:tr h="473825">
                <a:tc>
                  <a:txBody>
                    <a:bodyPr/>
                    <a:lstStyle/>
                    <a:p>
                      <a:pPr algn="ctr">
                        <a:defRPr sz="1400" b="0">
                          <a:solidFill>
                            <a:srgbClr val="232A34"/>
                          </a:solidFill>
                          <a:latin typeface="Aptos"/>
                        </a:defRPr>
                      </a:pPr>
                      <a:r>
                        <a:t>Retrieval</a:t>
                      </a:r>
                    </a:p>
                  </a:txBody>
                  <a:tcPr marL="54864" marR="36576" marT="36576" marB="27432">
                    <a:solidFill>
                      <a:srgbClr val="FFFFFF"/>
                    </a:solidFill>
                  </a:tcPr>
                </a:tc>
                <a:tc>
                  <a:txBody>
                    <a:bodyPr/>
                    <a:lstStyle/>
                    <a:p>
                      <a:pPr algn="ctr">
                        <a:defRPr sz="1400" b="0">
                          <a:solidFill>
                            <a:srgbClr val="232A34"/>
                          </a:solidFill>
                          <a:latin typeface="Aptos"/>
                        </a:defRPr>
                      </a:pPr>
                      <a:r>
                        <a:t>TF-IDF + cosine similarity</a:t>
                      </a:r>
                    </a:p>
                  </a:txBody>
                  <a:tcPr marL="54864" marR="36576" marT="36576" marB="27432">
                    <a:solidFill>
                      <a:srgbClr val="FFFFFF"/>
                    </a:solidFill>
                  </a:tcPr>
                </a:tc>
                <a:extLst>
                  <a:ext uri="{0D108BD9-81ED-4DB2-BD59-A6C34878D82A}">
                    <a16:rowId xmlns:a16="http://schemas.microsoft.com/office/drawing/2014/main" val="10006"/>
                  </a:ext>
                </a:extLst>
              </a:tr>
              <a:tr h="473825">
                <a:tc>
                  <a:txBody>
                    <a:bodyPr/>
                    <a:lstStyle/>
                    <a:p>
                      <a:pPr algn="ctr">
                        <a:defRPr sz="1400" b="0">
                          <a:solidFill>
                            <a:srgbClr val="232A34"/>
                          </a:solidFill>
                          <a:latin typeface="Aptos"/>
                        </a:defRPr>
                      </a:pPr>
                      <a:r>
                        <a:t>API</a:t>
                      </a:r>
                    </a:p>
                  </a:txBody>
                  <a:tcPr marL="54864" marR="36576" marT="36576" marB="27432">
                    <a:solidFill>
                      <a:srgbClr val="F6F8FC"/>
                    </a:solidFill>
                  </a:tcPr>
                </a:tc>
                <a:tc>
                  <a:txBody>
                    <a:bodyPr/>
                    <a:lstStyle/>
                    <a:p>
                      <a:pPr algn="ctr">
                        <a:defRPr sz="1400" b="0">
                          <a:solidFill>
                            <a:srgbClr val="232A34"/>
                          </a:solidFill>
                          <a:latin typeface="Aptos"/>
                        </a:defRPr>
                      </a:pPr>
                      <a:r>
                        <a:t>FastAPI, Uvicorn</a:t>
                      </a:r>
                    </a:p>
                  </a:txBody>
                  <a:tcPr marL="54864" marR="36576" marT="36576" marB="27432">
                    <a:solidFill>
                      <a:srgbClr val="F6F8FC"/>
                    </a:solidFill>
                  </a:tcPr>
                </a:tc>
                <a:extLst>
                  <a:ext uri="{0D108BD9-81ED-4DB2-BD59-A6C34878D82A}">
                    <a16:rowId xmlns:a16="http://schemas.microsoft.com/office/drawing/2014/main" val="10007"/>
                  </a:ext>
                </a:extLst>
              </a:tr>
              <a:tr h="473825">
                <a:tc>
                  <a:txBody>
                    <a:bodyPr/>
                    <a:lstStyle/>
                    <a:p>
                      <a:pPr algn="ctr">
                        <a:defRPr sz="1400" b="0">
                          <a:solidFill>
                            <a:srgbClr val="232A34"/>
                          </a:solidFill>
                          <a:latin typeface="Aptos"/>
                        </a:defRPr>
                      </a:pPr>
                      <a:r>
                        <a:t>UI</a:t>
                      </a:r>
                    </a:p>
                  </a:txBody>
                  <a:tcPr marL="54864" marR="36576" marT="36576" marB="27432">
                    <a:solidFill>
                      <a:srgbClr val="FFFFFF"/>
                    </a:solidFill>
                  </a:tcPr>
                </a:tc>
                <a:tc>
                  <a:txBody>
                    <a:bodyPr/>
                    <a:lstStyle/>
                    <a:p>
                      <a:pPr algn="ctr">
                        <a:defRPr sz="1400" b="0">
                          <a:solidFill>
                            <a:srgbClr val="232A34"/>
                          </a:solidFill>
                          <a:latin typeface="Aptos"/>
                        </a:defRPr>
                      </a:pPr>
                      <a:r>
                        <a:t>Streamlit</a:t>
                      </a:r>
                    </a:p>
                  </a:txBody>
                  <a:tcPr marL="54864" marR="36576" marT="36576" marB="27432">
                    <a:solidFill>
                      <a:srgbClr val="FFFFFF"/>
                    </a:solidFill>
                  </a:tcPr>
                </a:tc>
                <a:extLst>
                  <a:ext uri="{0D108BD9-81ED-4DB2-BD59-A6C34878D82A}">
                    <a16:rowId xmlns:a16="http://schemas.microsoft.com/office/drawing/2014/main" val="10008"/>
                  </a:ext>
                </a:extLst>
              </a:tr>
              <a:tr h="473825">
                <a:tc>
                  <a:txBody>
                    <a:bodyPr/>
                    <a:lstStyle/>
                    <a:p>
                      <a:pPr algn="ctr">
                        <a:defRPr sz="1400" b="0">
                          <a:solidFill>
                            <a:srgbClr val="232A34"/>
                          </a:solidFill>
                          <a:latin typeface="Aptos"/>
                        </a:defRPr>
                      </a:pPr>
                      <a:r>
                        <a:t>Development</a:t>
                      </a:r>
                    </a:p>
                  </a:txBody>
                  <a:tcPr marL="54864" marR="36576" marT="36576" marB="27432">
                    <a:solidFill>
                      <a:srgbClr val="F6F8FC"/>
                    </a:solidFill>
                  </a:tcPr>
                </a:tc>
                <a:tc>
                  <a:txBody>
                    <a:bodyPr/>
                    <a:lstStyle/>
                    <a:p>
                      <a:pPr algn="ctr">
                        <a:defRPr sz="1400" b="0">
                          <a:solidFill>
                            <a:srgbClr val="232A34"/>
                          </a:solidFill>
                          <a:latin typeface="Aptos"/>
                        </a:defRPr>
                      </a:pPr>
                      <a:r>
                        <a:rPr dirty="0"/>
                        <a:t>Jupyter / Google </a:t>
                      </a:r>
                      <a:r>
                        <a:rPr dirty="0" err="1"/>
                        <a:t>Colab</a:t>
                      </a:r>
                      <a:endParaRPr dirty="0"/>
                    </a:p>
                  </a:txBody>
                  <a:tcPr marL="54864" marR="36576" marT="36576" marB="27432">
                    <a:solidFill>
                      <a:srgbClr val="F6F8FC"/>
                    </a:solidFill>
                  </a:tcPr>
                </a:tc>
                <a:extLst>
                  <a:ext uri="{0D108BD9-81ED-4DB2-BD59-A6C34878D82A}">
                    <a16:rowId xmlns:a16="http://schemas.microsoft.com/office/drawing/2014/main" val="10009"/>
                  </a:ext>
                </a:extLst>
              </a:tr>
              <a:tr h="473830">
                <a:tc>
                  <a:txBody>
                    <a:bodyPr/>
                    <a:lstStyle/>
                    <a:p>
                      <a:pPr algn="ctr">
                        <a:defRPr sz="1400" b="0">
                          <a:solidFill>
                            <a:srgbClr val="232A34"/>
                          </a:solidFill>
                          <a:latin typeface="Aptos"/>
                        </a:defRPr>
                      </a:pPr>
                      <a:r>
                        <a:t>Version control</a:t>
                      </a:r>
                    </a:p>
                  </a:txBody>
                  <a:tcPr marL="54864" marR="36576" marT="36576" marB="27432">
                    <a:solidFill>
                      <a:srgbClr val="FFFFFF"/>
                    </a:solidFill>
                  </a:tcPr>
                </a:tc>
                <a:tc>
                  <a:txBody>
                    <a:bodyPr/>
                    <a:lstStyle/>
                    <a:p>
                      <a:pPr algn="ctr">
                        <a:defRPr sz="1400" b="0">
                          <a:solidFill>
                            <a:srgbClr val="232A34"/>
                          </a:solidFill>
                          <a:latin typeface="Aptos"/>
                        </a:defRPr>
                      </a:pPr>
                      <a:r>
                        <a:rPr dirty="0"/>
                        <a:t>Git / GitHub</a:t>
                      </a:r>
                    </a:p>
                  </a:txBody>
                  <a:tcPr marL="54864" marR="36576" marT="36576" marB="27432">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2393604" cy="507831"/>
          </a:xfrm>
          <a:prstGeom prst="rect">
            <a:avLst/>
          </a:prstGeom>
          <a:noFill/>
        </p:spPr>
        <p:txBody>
          <a:bodyPr wrap="none">
            <a:spAutoFit/>
          </a:bodyPr>
          <a:lstStyle/>
          <a:p>
            <a:pPr>
              <a:defRPr sz="2700" b="1">
                <a:solidFill>
                  <a:srgbClr val="143769"/>
                </a:solidFill>
                <a:latin typeface="Aptos Display"/>
              </a:defRPr>
            </a:pPr>
            <a:r>
              <a:rPr dirty="0"/>
              <a:t>2</a:t>
            </a:r>
            <a:r>
              <a:rPr lang="en-US" dirty="0"/>
              <a:t>5</a:t>
            </a:r>
            <a:r>
              <a:rPr dirty="0"/>
              <a:t>. Conclusion</a:t>
            </a:r>
          </a:p>
        </p:txBody>
      </p:sp>
      <p:sp>
        <p:nvSpPr>
          <p:cNvPr id="5" name="Rectangle 4"/>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7" name="TextBox 6"/>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28</a:t>
            </a:r>
          </a:p>
        </p:txBody>
      </p:sp>
      <p:sp>
        <p:nvSpPr>
          <p:cNvPr id="8" name="TextBox 7"/>
          <p:cNvSpPr txBox="1"/>
          <p:nvPr/>
        </p:nvSpPr>
        <p:spPr>
          <a:xfrm>
            <a:off x="777240" y="1234440"/>
            <a:ext cx="10515600" cy="4023360"/>
          </a:xfrm>
          <a:prstGeom prst="rect">
            <a:avLst/>
          </a:prstGeom>
          <a:noFill/>
        </p:spPr>
        <p:txBody>
          <a:bodyPr wrap="square" lIns="0" rIns="0">
            <a:spAutoFit/>
          </a:bodyPr>
          <a:lstStyle/>
          <a:p>
            <a:pPr>
              <a:spcAft>
                <a:spcPts val="900"/>
              </a:spcAft>
              <a:defRPr sz="1800">
                <a:solidFill>
                  <a:srgbClr val="232A34"/>
                </a:solidFill>
                <a:latin typeface="Aptos"/>
              </a:defRPr>
            </a:pPr>
            <a:r>
              <a:t>The project developed an integrated AI prototype for historical traffic prediction and intelligent traffic assistance.</a:t>
            </a:r>
          </a:p>
          <a:p>
            <a:pPr>
              <a:spcAft>
                <a:spcPts val="900"/>
              </a:spcAft>
              <a:defRPr sz="1800">
                <a:solidFill>
                  <a:srgbClr val="232A34"/>
                </a:solidFill>
                <a:latin typeface="Aptos"/>
              </a:defRPr>
            </a:pPr>
            <a:r>
              <a:t>XGBoost achieved the best ML performance with R² = 0.9571.</a:t>
            </a:r>
          </a:p>
          <a:p>
            <a:pPr>
              <a:spcAft>
                <a:spcPts val="900"/>
              </a:spcAft>
              <a:defRPr sz="1800">
                <a:solidFill>
                  <a:srgbClr val="232A34"/>
                </a:solidFill>
                <a:latin typeface="Aptos"/>
              </a:defRPr>
            </a:pPr>
            <a:r>
              <a:t>LSTM provided strong sequential forecasting with R² = 0.9460.</a:t>
            </a:r>
          </a:p>
          <a:p>
            <a:pPr>
              <a:spcAft>
                <a:spcPts val="900"/>
              </a:spcAft>
              <a:defRPr sz="1800">
                <a:solidFill>
                  <a:srgbClr val="232A34"/>
                </a:solidFill>
                <a:latin typeface="Aptos"/>
              </a:defRPr>
            </a:pPr>
            <a:r>
              <a:t>RAG retrieval connected a project-specific knowledge base to Llama 3.2 for grounded traffic assistance.</a:t>
            </a:r>
          </a:p>
          <a:p>
            <a:pPr>
              <a:spcAft>
                <a:spcPts val="900"/>
              </a:spcAft>
              <a:defRPr sz="1800">
                <a:solidFill>
                  <a:srgbClr val="232A34"/>
                </a:solidFill>
                <a:latin typeface="Aptos"/>
              </a:defRPr>
            </a:pPr>
            <a:r>
              <a:t>FastAPI and Streamlit turned the separate components into an interactive application.</a:t>
            </a:r>
          </a:p>
        </p:txBody>
      </p:sp>
      <p:sp>
        <p:nvSpPr>
          <p:cNvPr id="9" name="Rounded Rectangle 8"/>
          <p:cNvSpPr/>
          <p:nvPr/>
        </p:nvSpPr>
        <p:spPr>
          <a:xfrm>
            <a:off x="1828800" y="5212080"/>
            <a:ext cx="8503920" cy="777240"/>
          </a:xfrm>
          <a:prstGeom prst="roundRect">
            <a:avLst/>
          </a:prstGeom>
          <a:solidFill>
            <a:srgbClr val="F6F8FC"/>
          </a:solidFill>
          <a:ln>
            <a:solidFill>
              <a:srgbClr val="E1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828800" y="5212080"/>
            <a:ext cx="64008" cy="77724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29968" y="5349240"/>
            <a:ext cx="8138160" cy="320040"/>
          </a:xfrm>
          <a:prstGeom prst="rect">
            <a:avLst/>
          </a:prstGeom>
          <a:noFill/>
        </p:spPr>
        <p:txBody>
          <a:bodyPr wrap="none">
            <a:spAutoFit/>
          </a:bodyPr>
          <a:lstStyle/>
          <a:p>
            <a:pPr>
              <a:defRPr sz="1500" b="1">
                <a:solidFill>
                  <a:srgbClr val="143769"/>
                </a:solidFill>
              </a:defRPr>
            </a:pPr>
            <a:r>
              <a:t>Key takeaway</a:t>
            </a:r>
          </a:p>
        </p:txBody>
      </p:sp>
      <p:sp>
        <p:nvSpPr>
          <p:cNvPr id="12" name="TextBox 11"/>
          <p:cNvSpPr txBox="1"/>
          <p:nvPr/>
        </p:nvSpPr>
        <p:spPr>
          <a:xfrm>
            <a:off x="2029968" y="5742432"/>
            <a:ext cx="8138160" cy="118872"/>
          </a:xfrm>
          <a:prstGeom prst="rect">
            <a:avLst/>
          </a:prstGeom>
          <a:noFill/>
        </p:spPr>
        <p:txBody>
          <a:bodyPr wrap="square">
            <a:spAutoFit/>
          </a:bodyPr>
          <a:lstStyle/>
          <a:p>
            <a:pPr>
              <a:defRPr sz="1150">
                <a:solidFill>
                  <a:srgbClr val="232A34"/>
                </a:solidFill>
              </a:defRPr>
            </a:pPr>
            <a:r>
              <a:t>Prediction + forecasting + explainable natural-language assistance in one prototype.</a:t>
            </a:r>
          </a:p>
        </p:txBody>
      </p:sp>
      <p:sp>
        <p:nvSpPr>
          <p:cNvPr id="13" name="TextBox 12"/>
          <p:cNvSpPr txBox="1"/>
          <p:nvPr/>
        </p:nvSpPr>
        <p:spPr>
          <a:xfrm>
            <a:off x="731520" y="4160520"/>
            <a:ext cx="9784080" cy="685800"/>
          </a:xfrm>
          <a:prstGeom prst="rect">
            <a:avLst/>
          </a:prstGeom>
          <a:noFill/>
        </p:spPr>
        <p:txBody>
          <a:bodyPr wrap="square">
            <a:spAutoFit/>
          </a:bodyPr>
          <a:lstStyle/>
          <a:p>
            <a:pPr>
              <a:defRPr sz="1500"/>
            </a:pPr>
            <a:r>
              <a:rPr>
                <a:solidFill>
                  <a:srgbClr val="1F3758"/>
                </a:solidFill>
              </a:rPr>
              <a:t>Basic ARIMA was included as a classical baseline; its test R² of -1.2751 was weaker than the ANN and LSTM results.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4576381" cy="507831"/>
          </a:xfrm>
          <a:prstGeom prst="rect">
            <a:avLst/>
          </a:prstGeom>
          <a:noFill/>
        </p:spPr>
        <p:txBody>
          <a:bodyPr wrap="none">
            <a:spAutoFit/>
          </a:bodyPr>
          <a:lstStyle/>
          <a:p>
            <a:pPr>
              <a:defRPr sz="2700" b="1">
                <a:solidFill>
                  <a:srgbClr val="143769"/>
                </a:solidFill>
                <a:latin typeface="Aptos Display"/>
              </a:defRPr>
            </a:pPr>
            <a:r>
              <a:rPr dirty="0"/>
              <a:t>2</a:t>
            </a:r>
            <a:r>
              <a:rPr lang="en-US" dirty="0"/>
              <a:t>6</a:t>
            </a:r>
            <a:r>
              <a:rPr dirty="0"/>
              <a:t>. References &amp; Project Files</a:t>
            </a:r>
          </a:p>
        </p:txBody>
      </p:sp>
      <p:sp>
        <p:nvSpPr>
          <p:cNvPr id="5" name="Rectangle 4"/>
          <p:cNvSpPr/>
          <p:nvPr/>
        </p:nvSpPr>
        <p:spPr>
          <a:xfrm>
            <a:off x="502920" y="6565392"/>
            <a:ext cx="11155680" cy="10972"/>
          </a:xfrm>
          <a:prstGeom prst="rect">
            <a:avLst/>
          </a:prstGeom>
          <a:solidFill>
            <a:srgbClr val="E1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611112"/>
            <a:ext cx="9144000" cy="182880"/>
          </a:xfrm>
          <a:prstGeom prst="rect">
            <a:avLst/>
          </a:prstGeom>
          <a:noFill/>
        </p:spPr>
        <p:txBody>
          <a:bodyPr wrap="none">
            <a:spAutoFit/>
          </a:bodyPr>
          <a:lstStyle/>
          <a:p>
            <a:pPr>
              <a:defRPr sz="800">
                <a:solidFill>
                  <a:srgbClr val="646E7D"/>
                </a:solidFill>
              </a:defRPr>
            </a:pPr>
            <a:r>
              <a:t>Smart Traffic Prediction &amp; Intelligent Traffic Management System</a:t>
            </a:r>
          </a:p>
        </p:txBody>
      </p:sp>
      <p:sp>
        <p:nvSpPr>
          <p:cNvPr id="7" name="TextBox 6"/>
          <p:cNvSpPr txBox="1"/>
          <p:nvPr/>
        </p:nvSpPr>
        <p:spPr>
          <a:xfrm>
            <a:off x="10972800" y="6592824"/>
            <a:ext cx="640080" cy="201168"/>
          </a:xfrm>
          <a:prstGeom prst="rect">
            <a:avLst/>
          </a:prstGeom>
          <a:noFill/>
        </p:spPr>
        <p:txBody>
          <a:bodyPr wrap="none">
            <a:spAutoFit/>
          </a:bodyPr>
          <a:lstStyle/>
          <a:p>
            <a:pPr algn="r">
              <a:defRPr sz="800">
                <a:solidFill>
                  <a:srgbClr val="646E7D"/>
                </a:solidFill>
              </a:defRPr>
            </a:pPr>
            <a:r>
              <a:t>29</a:t>
            </a:r>
          </a:p>
        </p:txBody>
      </p:sp>
      <p:sp>
        <p:nvSpPr>
          <p:cNvPr id="8" name="TextBox 7"/>
          <p:cNvSpPr txBox="1"/>
          <p:nvPr/>
        </p:nvSpPr>
        <p:spPr>
          <a:xfrm>
            <a:off x="822960" y="1143000"/>
            <a:ext cx="10332720" cy="4389120"/>
          </a:xfrm>
          <a:prstGeom prst="rect">
            <a:avLst/>
          </a:prstGeom>
          <a:noFill/>
        </p:spPr>
        <p:txBody>
          <a:bodyPr wrap="square" lIns="0" rIns="0">
            <a:spAutoFit/>
          </a:bodyPr>
          <a:lstStyle/>
          <a:p>
            <a:pPr>
              <a:spcAft>
                <a:spcPts val="900"/>
              </a:spcAft>
              <a:defRPr sz="1500">
                <a:solidFill>
                  <a:srgbClr val="232A34"/>
                </a:solidFill>
                <a:latin typeface="Aptos"/>
              </a:defRPr>
            </a:pPr>
            <a:r>
              <a:t>Metro Interstate Traffic Volume Dataset (UCI Machine Learning Repository)</a:t>
            </a:r>
          </a:p>
          <a:p>
            <a:pPr>
              <a:spcAft>
                <a:spcPts val="900"/>
              </a:spcAft>
              <a:defRPr sz="1500">
                <a:solidFill>
                  <a:srgbClr val="232A34"/>
                </a:solidFill>
                <a:latin typeface="Aptos"/>
              </a:defRPr>
            </a:pPr>
            <a:r>
              <a:t>Scikit-learn documentation — preprocessing and regression metrics</a:t>
            </a:r>
          </a:p>
          <a:p>
            <a:pPr>
              <a:spcAft>
                <a:spcPts val="900"/>
              </a:spcAft>
              <a:defRPr sz="1500">
                <a:solidFill>
                  <a:srgbClr val="232A34"/>
                </a:solidFill>
                <a:latin typeface="Aptos"/>
              </a:defRPr>
            </a:pPr>
            <a:r>
              <a:t>XGBoost documentation — gradient boosting regression</a:t>
            </a:r>
          </a:p>
          <a:p>
            <a:pPr>
              <a:spcAft>
                <a:spcPts val="900"/>
              </a:spcAft>
              <a:defRPr sz="1500">
                <a:solidFill>
                  <a:srgbClr val="232A34"/>
                </a:solidFill>
                <a:latin typeface="Aptos"/>
              </a:defRPr>
            </a:pPr>
            <a:r>
              <a:t>TensorFlow / Keras documentation — LSTM networks</a:t>
            </a:r>
          </a:p>
          <a:p>
            <a:pPr>
              <a:spcAft>
                <a:spcPts val="900"/>
              </a:spcAft>
              <a:defRPr sz="1500">
                <a:solidFill>
                  <a:srgbClr val="232A34"/>
                </a:solidFill>
                <a:latin typeface="Aptos"/>
              </a:defRPr>
            </a:pPr>
            <a:r>
              <a:t>Ollama documentation — local LLM runtime</a:t>
            </a:r>
          </a:p>
          <a:p>
            <a:pPr>
              <a:spcAft>
                <a:spcPts val="900"/>
              </a:spcAft>
              <a:defRPr sz="1500">
                <a:solidFill>
                  <a:srgbClr val="232A34"/>
                </a:solidFill>
                <a:latin typeface="Aptos"/>
              </a:defRPr>
            </a:pPr>
            <a:r>
              <a:t>Llama 3.2 model used through Ollama</a:t>
            </a:r>
          </a:p>
          <a:p>
            <a:pPr>
              <a:spcAft>
                <a:spcPts val="900"/>
              </a:spcAft>
              <a:defRPr sz="1500">
                <a:solidFill>
                  <a:srgbClr val="232A34"/>
                </a:solidFill>
                <a:latin typeface="Aptos"/>
              </a:defRPr>
            </a:pPr>
            <a:r>
              <a:t>Project knowledge base: traffic_knowledge_base.txt</a:t>
            </a:r>
          </a:p>
          <a:p>
            <a:pPr>
              <a:spcAft>
                <a:spcPts val="900"/>
              </a:spcAft>
              <a:defRPr sz="1500">
                <a:solidFill>
                  <a:srgbClr val="232A34"/>
                </a:solidFill>
                <a:latin typeface="Aptos"/>
              </a:defRPr>
            </a:pPr>
            <a:r>
              <a:t>Project notebooks: ML, Deep Learning, GenAI and FastAPI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585910" y="1965960"/>
            <a:ext cx="4989699" cy="1200329"/>
          </a:xfrm>
          <a:prstGeom prst="rect">
            <a:avLst/>
          </a:prstGeom>
          <a:noFill/>
        </p:spPr>
        <p:txBody>
          <a:bodyPr wrap="none">
            <a:spAutoFit/>
          </a:bodyPr>
          <a:lstStyle/>
          <a:p>
            <a:pPr algn="ctr">
              <a:defRPr sz="4200" b="1">
                <a:solidFill>
                  <a:srgbClr val="FFFFFF"/>
                </a:solidFill>
                <a:latin typeface="Aptos Display"/>
              </a:defRPr>
            </a:pPr>
            <a:r>
              <a:rPr sz="7200" dirty="0"/>
              <a:t>THANK YOU</a:t>
            </a:r>
          </a:p>
        </p:txBody>
      </p:sp>
      <p:sp>
        <p:nvSpPr>
          <p:cNvPr id="5" name="TextBox 4"/>
          <p:cNvSpPr txBox="1"/>
          <p:nvPr/>
        </p:nvSpPr>
        <p:spPr>
          <a:xfrm>
            <a:off x="1632971" y="4937760"/>
            <a:ext cx="8895576" cy="830997"/>
          </a:xfrm>
          <a:prstGeom prst="rect">
            <a:avLst/>
          </a:prstGeom>
          <a:noFill/>
        </p:spPr>
        <p:txBody>
          <a:bodyPr wrap="none">
            <a:spAutoFit/>
          </a:bodyPr>
          <a:lstStyle/>
          <a:p>
            <a:pPr algn="ctr">
              <a:defRPr sz="1300">
                <a:solidFill>
                  <a:srgbClr val="FFFFFF"/>
                </a:solidFill>
              </a:defRPr>
            </a:pPr>
            <a:r>
              <a:rPr sz="2400" dirty="0"/>
              <a:t>Smart Traffic Prediction and Intelligent Traffic Management System</a:t>
            </a:r>
            <a:endParaRPr lang="en-US" sz="2400" dirty="0"/>
          </a:p>
          <a:p>
            <a:pPr algn="ctr">
              <a:defRPr sz="1300">
                <a:solidFill>
                  <a:srgbClr val="FFFFFF"/>
                </a:solidFill>
              </a:defRPr>
            </a:pPr>
            <a:r>
              <a:rPr lang="en-IN" sz="2400" dirty="0"/>
              <a:t>Nedha Saleem</a:t>
            </a:r>
            <a:endParaRPr sz="2400" dirty="0"/>
          </a:p>
        </p:txBody>
      </p:sp>
    </p:spTree>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docProps/app.xml><?xml version="1.0" encoding="utf-8"?>
<Properties xmlns="http://schemas.openxmlformats.org/officeDocument/2006/extended-properties" xmlns:vt="http://schemas.openxmlformats.org/officeDocument/2006/docPropsVTypes">
  <Template>Dark Gradient</Template>
  <TotalTime>415</TotalTime>
  <Words>2197</Words>
  <Application>Microsoft Office PowerPoint</Application>
  <PresentationFormat>Widescreen</PresentationFormat>
  <Paragraphs>396</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Arial Nova Light</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Hello</dc:creator>
  <cp:keywords/>
  <dc:description>generated using python-pptx</dc:description>
  <cp:lastModifiedBy>Nedha Saleem</cp:lastModifiedBy>
  <cp:revision>8</cp:revision>
  <dcterms:created xsi:type="dcterms:W3CDTF">2013-01-27T09:14:16Z</dcterms:created>
  <dcterms:modified xsi:type="dcterms:W3CDTF">2026-09-18T05:50:10Z</dcterms:modified>
  <cp:category/>
</cp:coreProperties>
</file>